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1064" r:id="rId2"/>
    <p:sldId id="1065" r:id="rId3"/>
    <p:sldId id="284" r:id="rId4"/>
    <p:sldId id="1067" r:id="rId5"/>
    <p:sldId id="1068" r:id="rId6"/>
    <p:sldId id="1069" r:id="rId7"/>
    <p:sldId id="10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6D6D"/>
    <a:srgbClr val="FFFF99"/>
    <a:srgbClr val="1A427D"/>
    <a:srgbClr val="01458C"/>
    <a:srgbClr val="81806B"/>
    <a:srgbClr val="568E8D"/>
    <a:srgbClr val="FEC880"/>
    <a:srgbClr val="C2E6E6"/>
    <a:srgbClr val="DBDF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6A005-5B47-4A53-A881-1724FDC4D8C0}" v="5" dt="2026-03-20T17:06:00.0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78" autoAdjust="0"/>
    <p:restoredTop sz="20868" autoAdjust="0"/>
  </p:normalViewPr>
  <p:slideViewPr>
    <p:cSldViewPr snapToGrid="0">
      <p:cViewPr varScale="1">
        <p:scale>
          <a:sx n="34" d="100"/>
          <a:sy n="34" d="100"/>
        </p:scale>
        <p:origin x="114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shes, Neal (HOU)" userId="00dc9a1f-2334-407b-96d9-5b34f80b01da" providerId="ADAL" clId="{171E045B-1E3B-4146-AB10-0FB07A63A88A}"/>
    <pc:docChg chg="custSel modSld">
      <pc:chgData name="Barshes, Neal (HOU)" userId="00dc9a1f-2334-407b-96d9-5b34f80b01da" providerId="ADAL" clId="{171E045B-1E3B-4146-AB10-0FB07A63A88A}" dt="2026-03-20T17:11:27.809" v="432" actId="6549"/>
      <pc:docMkLst>
        <pc:docMk/>
      </pc:docMkLst>
      <pc:sldChg chg="modNotesTx">
        <pc:chgData name="Barshes, Neal (HOU)" userId="00dc9a1f-2334-407b-96d9-5b34f80b01da" providerId="ADAL" clId="{171E045B-1E3B-4146-AB10-0FB07A63A88A}" dt="2026-03-20T17:11:27.809" v="432" actId="6549"/>
        <pc:sldMkLst>
          <pc:docMk/>
          <pc:sldMk cId="921827229" sldId="10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EFF2D2-416D-4DEB-AE3D-7F2E3D944ADB}"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31743D-965F-4E2B-A51F-B72A789B71D9}" type="slidenum">
              <a:rPr lang="en-US" smtClean="0"/>
              <a:t>‹#›</a:t>
            </a:fld>
            <a:endParaRPr lang="en-US"/>
          </a:p>
        </p:txBody>
      </p:sp>
    </p:spTree>
    <p:extLst>
      <p:ext uri="{BB962C8B-B14F-4D97-AF65-F5344CB8AC3E}">
        <p14:creationId xmlns:p14="http://schemas.microsoft.com/office/powerpoint/2010/main" val="357065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aseline="0" dirty="0">
                <a:latin typeface="Arial" panose="020B0604020202020204" pitchFamily="34" charset="0"/>
                <a:cs typeface="Arial" panose="020B0604020202020204" pitchFamily="34" charset="0"/>
              </a:rPr>
              <a:t>This doesn’t have to be limited to errors or complications that result in an adverse outcome. Near misses such errors in judgement or management in the perioperative period that COULD have resulted in an adverse outcome should also be discussed.</a:t>
            </a:r>
          </a:p>
          <a:p>
            <a:endParaRPr lang="en-US" sz="800" dirty="0">
              <a:latin typeface="Arial" panose="020B0604020202020204" pitchFamily="34" charset="0"/>
              <a:cs typeface="Arial" panose="020B0604020202020204" pitchFamily="34" charset="0"/>
            </a:endParaRPr>
          </a:p>
          <a:p>
            <a:r>
              <a:rPr lang="en-US" sz="600" dirty="0">
                <a:latin typeface="Arial" panose="020B0604020202020204" pitchFamily="34" charset="0"/>
                <a:cs typeface="Arial" panose="020B0604020202020204" pitchFamily="34" charset="0"/>
              </a:rPr>
              <a:t>Any NSQIOP complication needs to be reviewed. These are their definitions of reportable complications: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Cardiac arrest</a:t>
            </a:r>
            <a:r>
              <a:rPr lang="en-US" sz="600" dirty="0">
                <a:latin typeface="Arial" panose="020B0604020202020204" pitchFamily="34" charset="0"/>
                <a:cs typeface="Arial" panose="020B0604020202020204" pitchFamily="34" charset="0"/>
              </a:rPr>
              <a:t> - </a:t>
            </a:r>
            <a:r>
              <a:rPr lang="en-US" sz="600" b="0" i="0" u="none" strike="noStrike" baseline="0" dirty="0">
                <a:solidFill>
                  <a:srgbClr val="000000"/>
                </a:solidFill>
                <a:latin typeface="Arial" panose="020B0604020202020204" pitchFamily="34" charset="0"/>
                <a:cs typeface="Arial" panose="020B0604020202020204" pitchFamily="34" charset="0"/>
              </a:rPr>
              <a:t>The absence of cardiac rhythm or presence of chaotic cardiac rhythm, intraoperatively or within 30 days following surgery, which results in a cardiac arrest requiring the initiation of CPR, which includes chest compressions.</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Myocardial infarction</a:t>
            </a:r>
            <a:r>
              <a:rPr lang="en-US" sz="600" dirty="0">
                <a:latin typeface="Arial" panose="020B0604020202020204" pitchFamily="34" charset="0"/>
                <a:cs typeface="Arial" panose="020B0604020202020204" pitchFamily="34" charset="0"/>
              </a:rPr>
              <a:t> - </a:t>
            </a:r>
            <a:r>
              <a:rPr lang="en-US" sz="600" b="0" i="0" u="none" strike="noStrike" baseline="0" dirty="0">
                <a:solidFill>
                  <a:srgbClr val="000000"/>
                </a:solidFill>
                <a:latin typeface="Arial" panose="020B0604020202020204" pitchFamily="34" charset="0"/>
                <a:cs typeface="Arial" panose="020B0604020202020204" pitchFamily="34" charset="0"/>
              </a:rPr>
              <a:t>Documentation of ECG changes indicative of acute MI (one or more of the following): - ST elevation &gt; 1 mm in two or more contiguous leads - New left bundle branch - New q-wave in two of more contiguous leads * New elevation in troponin greater than 3 times upper level of the reference range in the setting of suspected myocardial ischemia.</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Pneumonia</a:t>
            </a:r>
            <a:r>
              <a:rPr lang="en-US" sz="600" dirty="0">
                <a:latin typeface="Arial" panose="020B0604020202020204" pitchFamily="34" charset="0"/>
                <a:cs typeface="Arial" panose="020B0604020202020204" pitchFamily="34" charset="0"/>
              </a:rPr>
              <a:t> - </a:t>
            </a:r>
            <a:r>
              <a:rPr lang="en-US" sz="600" b="0" i="0" u="none" strike="noStrike" baseline="0" dirty="0">
                <a:solidFill>
                  <a:srgbClr val="000000"/>
                </a:solidFill>
                <a:latin typeface="Arial" panose="020B0604020202020204" pitchFamily="34" charset="0"/>
                <a:cs typeface="Arial" panose="020B0604020202020204" pitchFamily="34" charset="0"/>
              </a:rPr>
              <a:t>must meet criteria from both Radiology and Signs/Symptoms/Laboratory sections listed as follows: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sng" strike="noStrike" baseline="0" dirty="0">
                <a:solidFill>
                  <a:srgbClr val="000000"/>
                </a:solidFill>
                <a:latin typeface="Arial" panose="020B0604020202020204" pitchFamily="34" charset="0"/>
                <a:cs typeface="Arial" panose="020B0604020202020204" pitchFamily="34" charset="0"/>
              </a:rPr>
              <a:t>Imaging</a:t>
            </a:r>
            <a:r>
              <a:rPr lang="en-US" sz="600" b="0" i="0" u="none" strike="noStrike" baseline="0" dirty="0">
                <a:solidFill>
                  <a:srgbClr val="000000"/>
                </a:solidFill>
                <a:latin typeface="Arial" panose="020B0604020202020204" pitchFamily="34" charset="0"/>
                <a:cs typeface="Arial" panose="020B0604020202020204" pitchFamily="34" charset="0"/>
              </a:rPr>
              <a:t> (x-ray or CT) abnormalities, 1+: (a) New or progressive and persistent infiltrate; (b) Consolidation or opacity; (c) Cavitation. Note: In patients with underlying pulmonary or cardiac disease (e.g. respiratory distress syndrome, bronchopulmonary dysplasia, pulmonary edema, or chronic obstructive pulmonary disease), two or more serial chest radiological exams (</a:t>
            </a:r>
            <a:r>
              <a:rPr lang="en-US" sz="600" b="0" i="0" u="none" strike="noStrike" baseline="0" dirty="0" err="1">
                <a:solidFill>
                  <a:srgbClr val="000000"/>
                </a:solidFill>
                <a:latin typeface="Arial" panose="020B0604020202020204" pitchFamily="34" charset="0"/>
                <a:cs typeface="Arial" panose="020B0604020202020204" pitchFamily="34" charset="0"/>
              </a:rPr>
              <a:t>xray</a:t>
            </a:r>
            <a:r>
              <a:rPr lang="en-US" sz="600" b="0" i="0" u="none" strike="noStrike" baseline="0" dirty="0">
                <a:solidFill>
                  <a:srgbClr val="000000"/>
                </a:solidFill>
                <a:latin typeface="Arial" panose="020B0604020202020204" pitchFamily="34" charset="0"/>
                <a:cs typeface="Arial" panose="020B0604020202020204" pitchFamily="34" charset="0"/>
              </a:rPr>
              <a:t> or CT) are required.</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sng" strike="noStrike" baseline="0" dirty="0">
                <a:solidFill>
                  <a:srgbClr val="000000"/>
                </a:solidFill>
                <a:latin typeface="Arial" panose="020B0604020202020204" pitchFamily="34" charset="0"/>
                <a:cs typeface="Arial" panose="020B0604020202020204" pitchFamily="34" charset="0"/>
              </a:rPr>
              <a:t>Respiratory</a:t>
            </a:r>
            <a:r>
              <a:rPr lang="en-US" sz="600" b="0" i="0" u="none" strike="noStrike" baseline="0" dirty="0">
                <a:solidFill>
                  <a:srgbClr val="000000"/>
                </a:solidFill>
                <a:latin typeface="Arial" panose="020B0604020202020204" pitchFamily="34" charset="0"/>
                <a:cs typeface="Arial" panose="020B0604020202020204" pitchFamily="34" charset="0"/>
              </a:rPr>
              <a:t> signs or symptoms, 2+: (a) New onset of purulent sputum, or change in character of sputum, or increased respiratory secretions, or increased suctioning requirements; (b) New onset or worsening cough, or dyspnea, or tachypnea; (c) Rales or rhonchi; (d) Worsening gas exchange (e.g. O2 desaturations (e.g., PaO2/FiO2 ≤ 240), increased oxygen requirements, or increased ventilator demand).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sng" strike="noStrike" baseline="0" dirty="0">
                <a:solidFill>
                  <a:srgbClr val="000000"/>
                </a:solidFill>
                <a:latin typeface="Arial" panose="020B0604020202020204" pitchFamily="34" charset="0"/>
                <a:cs typeface="Arial" panose="020B0604020202020204" pitchFamily="34" charset="0"/>
              </a:rPr>
              <a:t>Infection</a:t>
            </a:r>
            <a:r>
              <a:rPr lang="en-US" sz="600" b="0" i="0" u="none" strike="noStrike" baseline="0" dirty="0">
                <a:solidFill>
                  <a:srgbClr val="000000"/>
                </a:solidFill>
                <a:latin typeface="Arial" panose="020B0604020202020204" pitchFamily="34" charset="0"/>
                <a:cs typeface="Arial" panose="020B0604020202020204" pitchFamily="34" charset="0"/>
              </a:rPr>
              <a:t> signs or symptoms, 1+: (a) Fever (&gt;38 C or &gt;100.4 F) with no other recognized cause; (b) Leukopenia (&lt;4000) or leukocytosis( ≥12,000 WBC/mm3) ; (c)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sng" strike="noStrike" baseline="0" dirty="0">
                <a:solidFill>
                  <a:srgbClr val="000000"/>
                </a:solidFill>
                <a:latin typeface="Arial" panose="020B0604020202020204" pitchFamily="34" charset="0"/>
                <a:cs typeface="Arial" panose="020B0604020202020204" pitchFamily="34" charset="0"/>
              </a:rPr>
              <a:t>Testing results</a:t>
            </a:r>
            <a:r>
              <a:rPr lang="en-US" sz="600" b="0" i="0" u="none" strike="noStrike" baseline="0" dirty="0">
                <a:solidFill>
                  <a:srgbClr val="000000"/>
                </a:solidFill>
                <a:latin typeface="Arial" panose="020B0604020202020204" pitchFamily="34" charset="0"/>
                <a:cs typeface="Arial" panose="020B0604020202020204" pitchFamily="34" charset="0"/>
              </a:rPr>
              <a:t>, 1+: (a) 5% Bronchoalveolar lavage (BAL) - obtained cells contain intracellular bacteria on direct microscopic exam (e.g., Gram stain); (b) Positive growth in blood culture not related to another source of infection; (c) Positive growth in culture of pleural fluid; (d) Positive quantitative culture from minimally contaminated lower respiratory tract (LRT) specimen (e.g. BAL or protected specimen brushing)</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Progressive renal insufficiency/acute renal failure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The reduced capacity of the kidney to perform its function as evidenced by a rise in creatinine of &gt;2 mg/dl from preoperative value OR need for new acute dialysis.</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Pulmonary embolism</a:t>
            </a:r>
            <a:r>
              <a:rPr lang="en-US" sz="600" dirty="0">
                <a:latin typeface="Arial" panose="020B0604020202020204" pitchFamily="34" charset="0"/>
                <a:cs typeface="Arial" panose="020B0604020202020204" pitchFamily="34" charset="0"/>
              </a:rPr>
              <a:t> - </a:t>
            </a:r>
            <a:r>
              <a:rPr lang="en-US" sz="600" b="0" i="0" u="none" strike="noStrike" baseline="0" dirty="0">
                <a:solidFill>
                  <a:srgbClr val="000000"/>
                </a:solidFill>
                <a:latin typeface="Arial" panose="020B0604020202020204" pitchFamily="34" charset="0"/>
                <a:cs typeface="Arial" panose="020B0604020202020204" pitchFamily="34" charset="0"/>
              </a:rPr>
              <a:t>A pulmonary embolism must be noted within 30 days after the principal operative procedure AND the following criteria:</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New diagnosis of a new blood clot in a pulmonary artery</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The patient has a V-Q scan interpreted as high probability of pulmonary embolism or a positive CT exam, TEE, pulmonary arteriogram, CT angiogram, or any other definitive imaging modality (including direct pathology examination such as autopsy</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DVT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New diagnosis of a new venous thrombosis (superficial or deep), confirmed by a duplex, venogram, CT scan, or any other definitive imaging modality (including direct pathology examination such as autopsy) AND the patient must be treated with anticoagulation therapy and/or placement of a vena cava filter or clipping of the vena cava, or the record indicates that treatment was warranted but there was no additional appropriate treatment option available.</a:t>
            </a:r>
            <a:endParaRPr lang="en-US" sz="600" dirty="0">
              <a:latin typeface="Arial" panose="020B0604020202020204" pitchFamily="34" charset="0"/>
              <a:cs typeface="Arial" panose="020B0604020202020204" pitchFamily="34" charset="0"/>
            </a:endParaRPr>
          </a:p>
          <a:p>
            <a:pPr marL="228600" indent="-228600">
              <a:buFont typeface="+mj-lt"/>
              <a:buAutoNum type="arabicPeriod"/>
            </a:pPr>
            <a:r>
              <a:rPr lang="en-US" sz="600" b="1" dirty="0">
                <a:latin typeface="Arial" panose="020B0604020202020204" pitchFamily="34" charset="0"/>
                <a:cs typeface="Arial" panose="020B0604020202020204" pitchFamily="34" charset="0"/>
              </a:rPr>
              <a:t>Return to operating room (unplanned)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Deep incisional SSI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an infection that occurs within 30 days after the operation and the infection appears to be related to the operation and infection involved deep soft tissues (e.g., fascial and muscle layers) of the incision and at least one of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Purulent drainage from the deep incision but not from the organ/space component of the surgical site.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A deep incision spontaneously dehisces or is deliberately opened by a surgeon when the patient has at least one of the following signs or symptoms: fever (&gt; 38 C), localized pain, or tenderness, unless site is culture-negative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An abscess or other evidence of infection involving the deep incision is found on direct examination, during reoperation, or by histopathologic or radiologic examination.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Diagnosis of a deep incision SSI by a surgeon or attending physician.</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Organ space SSI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an infection that occurs within 30 days after the operation and the infection appears to be related to the operation and the infection involves any part of the anatomy (e.g., organs or spaces), other than the incision, which was opened or manipulated during an operation and at least one of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Purulent drainage from a drain that is placed through a stab wound into the organ/space.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Organisms isolated from an aseptically obtained culture of fluid or tissue in the organ/space.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An abscess or other evidence of infection involving the organ/space that is found on direct examination, during reoperation, or by histopathologic or radiologic examination.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Diagnosis of an organ/space SSI by a surgeon or attending physician.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The following are considered organ/space SSI: Anastomotic leaks involving the GI tract or which involve enteric contents; Anastomotic leaks involving the GU tract which involve evidence of an active infection (e.g. elevated WBC/fever attributed to the leak, diagnosis by physician, collection or leak is culture positive); Injury to intestine (e.g. enterotomy, iatrogenic injury) which results in a postoperative leak of enteric contents into the abdomen</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Unplanned intubation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Patient required placement of an endotracheal tube or other similar breathing tube and ventilator support intraoperatively or within 30 days following surgery which was not intended or planned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UTI: </a:t>
            </a:r>
            <a:r>
              <a:rPr lang="en-US" sz="600" b="0" dirty="0">
                <a:latin typeface="Arial" panose="020B0604020202020204" pitchFamily="34" charset="0"/>
                <a:cs typeface="Arial" panose="020B0604020202020204" pitchFamily="34" charset="0"/>
              </a:rPr>
              <a:t>Combination of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Two of the following six symptoms/signs: (1) Fever (&gt;38C or 100.4F); (2) Urgency; (3) Frequency; (4) Dysuria; (5) Suprapubic tenderness; (6) Costovertebral angle pain or tenderness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One or more of testing criteria: (1) urine culture of &gt; 100,000 colonies/ml urine with no more than two species of organisms; (2) urinalysis positive for leukocyte esterase and/or nitrate; (3) pyuria (&gt;10 WBCs/mm3 or &gt; 3 WBC/</a:t>
            </a:r>
            <a:r>
              <a:rPr lang="en-US" sz="600" b="0" i="0" u="none" strike="noStrike" baseline="0" dirty="0" err="1">
                <a:solidFill>
                  <a:srgbClr val="000000"/>
                </a:solidFill>
                <a:latin typeface="Arial" panose="020B0604020202020204" pitchFamily="34" charset="0"/>
                <a:cs typeface="Arial" panose="020B0604020202020204" pitchFamily="34" charset="0"/>
              </a:rPr>
              <a:t>hpf</a:t>
            </a:r>
            <a:r>
              <a:rPr lang="en-US" sz="600" b="0" i="0" u="none" strike="noStrike" baseline="0" dirty="0">
                <a:solidFill>
                  <a:srgbClr val="000000"/>
                </a:solidFill>
                <a:latin typeface="Arial" panose="020B0604020202020204" pitchFamily="34" charset="0"/>
                <a:cs typeface="Arial" panose="020B0604020202020204" pitchFamily="34" charset="0"/>
              </a:rPr>
              <a:t> of unspun urine); (4) Organisms seen on Gram stain of unspun urine; (5) two urine cultures with repeated isolation of the same with &gt;100,000 colonies/ml urine in non-voided specimen</a:t>
            </a:r>
            <a:endParaRPr lang="en-US" sz="600"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1" dirty="0">
                <a:latin typeface="Arial" panose="020B0604020202020204" pitchFamily="34" charset="0"/>
                <a:cs typeface="Arial" panose="020B0604020202020204" pitchFamily="34" charset="0"/>
              </a:rPr>
              <a:t>Wound disruption </a:t>
            </a:r>
            <a:r>
              <a:rPr lang="en-US" sz="600" dirty="0">
                <a:latin typeface="Arial" panose="020B0604020202020204" pitchFamily="34" charset="0"/>
                <a:cs typeface="Arial" panose="020B0604020202020204" pitchFamily="34" charset="0"/>
              </a:rPr>
              <a:t>- </a:t>
            </a:r>
            <a:r>
              <a:rPr lang="en-US" sz="600" b="0" i="0" u="none" strike="noStrike" baseline="0" dirty="0">
                <a:solidFill>
                  <a:srgbClr val="000000"/>
                </a:solidFill>
                <a:latin typeface="Arial" panose="020B0604020202020204" pitchFamily="34" charset="0"/>
                <a:cs typeface="Arial" panose="020B0604020202020204" pitchFamily="34" charset="0"/>
              </a:rPr>
              <a:t>spontaneous reopening of a previously surgically closed wound that occurs within 30 days after the principal operative procedure AND one of the following criteria:</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Abdominal site: refers primarily to loss of the integrity of fascial closure (or whatever closure was performed in the absence of fascial closure)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600" b="0" i="0" u="none" strike="noStrike" baseline="0" dirty="0">
                <a:solidFill>
                  <a:srgbClr val="000000"/>
                </a:solidFill>
                <a:latin typeface="Arial" panose="020B0604020202020204" pitchFamily="34" charset="0"/>
                <a:cs typeface="Arial" panose="020B0604020202020204" pitchFamily="34" charset="0"/>
              </a:rPr>
              <a:t>Other Surgical Sites: there must be a total breakdown of the surgical closure compromising the integrity of the procedure</a:t>
            </a:r>
            <a:endParaRPr lang="en-US" sz="600" dirty="0">
              <a:latin typeface="Arial" panose="020B0604020202020204" pitchFamily="34" charset="0"/>
              <a:cs typeface="Arial" panose="020B0604020202020204" pitchFamily="34" charset="0"/>
            </a:endParaRPr>
          </a:p>
          <a:p>
            <a:pPr marL="228600" indent="-228600">
              <a:buFont typeface="+mj-lt"/>
              <a:buAutoNum type="arabicPeriod"/>
            </a:pPr>
            <a:r>
              <a:rPr lang="en-US" sz="600" b="1" dirty="0">
                <a:latin typeface="Arial" panose="020B0604020202020204" pitchFamily="34" charset="0"/>
                <a:cs typeface="Arial" panose="020B0604020202020204" pitchFamily="34" charset="0"/>
              </a:rPr>
              <a:t>30d readmission</a:t>
            </a:r>
          </a:p>
          <a:p>
            <a:pPr marL="228600" indent="-228600">
              <a:buFont typeface="+mj-lt"/>
              <a:buAutoNum type="arabicPeriod"/>
            </a:pPr>
            <a:r>
              <a:rPr lang="en-US" sz="600" b="1" dirty="0">
                <a:latin typeface="Arial" panose="020B0604020202020204" pitchFamily="34" charset="0"/>
                <a:cs typeface="Arial" panose="020B0604020202020204" pitchFamily="34" charset="0"/>
              </a:rPr>
              <a:t>Death</a:t>
            </a:r>
          </a:p>
          <a:p>
            <a:endParaRPr lang="en-US" sz="1050" dirty="0"/>
          </a:p>
        </p:txBody>
      </p:sp>
      <p:sp>
        <p:nvSpPr>
          <p:cNvPr id="4" name="Slide Number Placeholder 3"/>
          <p:cNvSpPr>
            <a:spLocks noGrp="1"/>
          </p:cNvSpPr>
          <p:nvPr>
            <p:ph type="sldNum" sz="quarter" idx="5"/>
          </p:nvPr>
        </p:nvSpPr>
        <p:spPr/>
        <p:txBody>
          <a:bodyPr/>
          <a:lstStyle/>
          <a:p>
            <a:fld id="{CB31743D-965F-4E2B-A51F-B72A789B71D9}" type="slidenum">
              <a:rPr lang="en-US" smtClean="0"/>
              <a:t>1</a:t>
            </a:fld>
            <a:endParaRPr lang="en-US"/>
          </a:p>
        </p:txBody>
      </p:sp>
    </p:spTree>
    <p:extLst>
      <p:ext uri="{BB962C8B-B14F-4D97-AF65-F5344CB8AC3E}">
        <p14:creationId xmlns:p14="http://schemas.microsoft.com/office/powerpoint/2010/main" val="693785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Make this short and sweet: do NOT (repeat: NOT) list all comorbidities, common comorbidities (ex. hyperlipidemia), or alphabet soup (ex. “HTN, HLD, DM, GERD).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Clinical information pertinent to adverse outcome</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Patient history: pertinent HPI/PMH/PSH/meds</a:t>
            </a:r>
          </a:p>
          <a:p>
            <a:r>
              <a:rPr lang="en-US" sz="800" dirty="0">
                <a:latin typeface="Arial" panose="020B0604020202020204" pitchFamily="34" charset="0"/>
                <a:cs typeface="Arial" panose="020B0604020202020204" pitchFamily="34" charset="0"/>
              </a:rPr>
              <a:t>Labs/imaging studies: studies relevant to outcome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rial" panose="020B0604020202020204" pitchFamily="34" charset="0"/>
                <a:cs typeface="Arial" panose="020B0604020202020204" pitchFamily="34" charset="0"/>
              </a:rPr>
              <a:t>Indication for intervention: thought process behind decision to operate</a:t>
            </a:r>
          </a:p>
          <a:p>
            <a:r>
              <a:rPr lang="en-US" sz="800" dirty="0">
                <a:latin typeface="Arial" panose="020B0604020202020204" pitchFamily="34" charset="0"/>
                <a:cs typeface="Arial" panose="020B0604020202020204" pitchFamily="34" charset="0"/>
              </a:rPr>
              <a:t>Procedural/management details : technical or physiologic details related to outcome</a:t>
            </a:r>
          </a:p>
          <a:p>
            <a:r>
              <a:rPr lang="en-US" sz="800" dirty="0">
                <a:latin typeface="Arial" panose="020B0604020202020204" pitchFamily="34" charset="0"/>
                <a:cs typeface="Arial" panose="020B0604020202020204" pitchFamily="34" charset="0"/>
              </a:rPr>
              <a:t>Hospital course: non-procedural events related to outcome</a:t>
            </a:r>
          </a:p>
          <a:p>
            <a:r>
              <a:rPr lang="en-US" sz="800" dirty="0">
                <a:latin typeface="Arial" panose="020B0604020202020204" pitchFamily="34" charset="0"/>
                <a:cs typeface="Arial" panose="020B0604020202020204" pitchFamily="34" charset="0"/>
              </a:rPr>
              <a:t>Recognition of the error/complication: how/when the complication was recognized</a:t>
            </a:r>
          </a:p>
          <a:p>
            <a:r>
              <a:rPr lang="en-US" sz="800" dirty="0">
                <a:latin typeface="Arial" panose="020B0604020202020204" pitchFamily="34" charset="0"/>
                <a:cs typeface="Arial" panose="020B0604020202020204" pitchFamily="34" charset="0"/>
              </a:rPr>
              <a:t>Management of the error/complication: steps taken to manage the complication</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Don’t use this or any other slide as your speaker’s notes! Only use the bullet points for headlines, giving the audience some framework for what you will </a:t>
            </a:r>
            <a:r>
              <a:rPr lang="en-US" sz="800" i="1" dirty="0">
                <a:latin typeface="Arial" panose="020B0604020202020204" pitchFamily="34" charset="0"/>
                <a:cs typeface="Arial" panose="020B0604020202020204" pitchFamily="34" charset="0"/>
              </a:rPr>
              <a:t>say</a:t>
            </a:r>
            <a:r>
              <a:rPr lang="en-US" sz="800" dirty="0">
                <a:latin typeface="Arial" panose="020B0604020202020204" pitchFamily="34" charset="0"/>
                <a:cs typeface="Arial" panose="020B0604020202020204" pitchFamily="34" charset="0"/>
              </a:rPr>
              <a:t>.</a:t>
            </a:r>
          </a:p>
          <a:p>
            <a:endParaRPr lang="en-US" sz="800" dirty="0">
              <a:latin typeface="Arial" panose="020B0604020202020204" pitchFamily="34" charset="0"/>
              <a:cs typeface="Arial" panose="020B0604020202020204" pitchFamily="34" charset="0"/>
            </a:endParaRPr>
          </a:p>
          <a:p>
            <a:r>
              <a:rPr lang="en-US" sz="800" b="1" dirty="0">
                <a:latin typeface="Arial" panose="020B0604020202020204" pitchFamily="34" charset="0"/>
                <a:cs typeface="Arial" panose="020B0604020202020204" pitchFamily="34" charset="0"/>
              </a:rPr>
              <a:t>IF presenting SSI anywhere, describe which risk factors were present/absent: </a:t>
            </a:r>
          </a:p>
          <a:p>
            <a:endParaRPr lang="en-US" sz="800" dirty="0">
              <a:latin typeface="Arial" panose="020B0604020202020204" pitchFamily="34" charset="0"/>
              <a:cs typeface="Arial" panose="020B0604020202020204" pitchFamily="34" charset="0"/>
            </a:endParaRPr>
          </a:p>
          <a:p>
            <a:r>
              <a:rPr lang="en-US" sz="1200" b="0" i="0" kern="1200" dirty="0">
                <a:solidFill>
                  <a:schemeClr val="tx1"/>
                </a:solidFill>
                <a:effectLst/>
                <a:latin typeface="+mn-lt"/>
                <a:ea typeface="+mn-ea"/>
                <a:cs typeface="+mn-cs"/>
              </a:rPr>
              <a:t>PTFE or Dacron prosthetic vascular graft</a:t>
            </a:r>
          </a:p>
          <a:p>
            <a:r>
              <a:rPr lang="en-US" sz="1200" b="0" i="0" kern="1200" dirty="0">
                <a:solidFill>
                  <a:schemeClr val="tx1"/>
                </a:solidFill>
                <a:effectLst/>
                <a:latin typeface="+mn-lt"/>
                <a:ea typeface="+mn-ea"/>
                <a:cs typeface="+mn-cs"/>
              </a:rPr>
              <a:t>obesity (body mass index [BMI] OR 1.43, BMI 29.9-40: OR 1.64; BMI ≥40</a:t>
            </a:r>
            <a:r>
              <a:rPr lang="en-US" sz="1200" b="0" i="0" kern="1200">
                <a:solidFill>
                  <a:schemeClr val="tx1"/>
                </a:solidFill>
                <a:effectLst/>
                <a:latin typeface="+mn-lt"/>
                <a:ea typeface="+mn-ea"/>
                <a:cs typeface="+mn-cs"/>
              </a:rPr>
              <a:t>: OR </a:t>
            </a:r>
            <a:r>
              <a:rPr lang="en-US" sz="1200" b="0" i="0" kern="1200" dirty="0">
                <a:solidFill>
                  <a:schemeClr val="tx1"/>
                </a:solidFill>
                <a:effectLst/>
                <a:latin typeface="+mn-lt"/>
                <a:ea typeface="+mn-ea"/>
                <a:cs typeface="+mn-cs"/>
              </a:rPr>
              <a:t>2.22) </a:t>
            </a:r>
          </a:p>
          <a:p>
            <a:r>
              <a:rPr lang="en-US" sz="1200" b="0" i="0" kern="1200" dirty="0">
                <a:solidFill>
                  <a:schemeClr val="tx1"/>
                </a:solidFill>
                <a:effectLst/>
                <a:latin typeface="+mn-lt"/>
                <a:ea typeface="+mn-ea"/>
                <a:cs typeface="+mn-cs"/>
              </a:rPr>
              <a:t>Rest pain or tissue loss </a:t>
            </a:r>
          </a:p>
          <a:p>
            <a:r>
              <a:rPr lang="en-US" sz="1200" b="0" i="0" kern="1200" dirty="0">
                <a:solidFill>
                  <a:schemeClr val="tx1"/>
                </a:solidFill>
                <a:effectLst/>
                <a:latin typeface="+mn-lt"/>
                <a:ea typeface="+mn-ea"/>
                <a:cs typeface="+mn-cs"/>
              </a:rPr>
              <a:t>severe CHF (OR 1.89), </a:t>
            </a:r>
          </a:p>
          <a:p>
            <a:r>
              <a:rPr lang="en-US" sz="1200" b="0" i="0" kern="1200" dirty="0">
                <a:solidFill>
                  <a:schemeClr val="tx1"/>
                </a:solidFill>
                <a:effectLst/>
                <a:latin typeface="+mn-lt"/>
                <a:ea typeface="+mn-ea"/>
                <a:cs typeface="+mn-cs"/>
              </a:rPr>
              <a:t>kidney failure (OR 1.83)</a:t>
            </a:r>
          </a:p>
          <a:p>
            <a:r>
              <a:rPr lang="en-US" sz="1200" b="0" i="0" kern="1200" dirty="0">
                <a:solidFill>
                  <a:schemeClr val="tx1"/>
                </a:solidFill>
                <a:effectLst/>
                <a:latin typeface="+mn-lt"/>
                <a:ea typeface="+mn-ea"/>
                <a:cs typeface="+mn-cs"/>
              </a:rPr>
              <a:t>Tissue loss (OR 1.67)</a:t>
            </a:r>
          </a:p>
          <a:p>
            <a:r>
              <a:rPr lang="en-US" sz="1200" b="0" i="0" kern="1200" dirty="0">
                <a:solidFill>
                  <a:schemeClr val="tx1"/>
                </a:solidFill>
                <a:effectLst/>
                <a:latin typeface="+mn-lt"/>
                <a:ea typeface="+mn-ea"/>
                <a:cs typeface="+mn-cs"/>
              </a:rPr>
              <a:t>diabetes (OR, 1.32)</a:t>
            </a:r>
          </a:p>
          <a:p>
            <a:r>
              <a:rPr lang="en-US" sz="1200" b="0" i="0" kern="1200" dirty="0">
                <a:solidFill>
                  <a:schemeClr val="tx1"/>
                </a:solidFill>
                <a:effectLst/>
                <a:latin typeface="+mn-lt"/>
                <a:ea typeface="+mn-ea"/>
                <a:cs typeface="+mn-cs"/>
              </a:rPr>
              <a:t>Rest pain (OR 1.23)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untreated COPD (OR 1.21)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Perioperative factors:</a:t>
            </a:r>
          </a:p>
          <a:p>
            <a:r>
              <a:rPr lang="en-US" sz="1200" b="0" i="0" kern="1200" dirty="0">
                <a:solidFill>
                  <a:schemeClr val="tx1"/>
                </a:solidFill>
                <a:effectLst/>
                <a:latin typeface="+mn-lt"/>
                <a:ea typeface="+mn-ea"/>
                <a:cs typeface="+mn-cs"/>
              </a:rPr>
              <a:t>intraoperative blood transfusion (OR 2.28) </a:t>
            </a:r>
          </a:p>
          <a:p>
            <a:r>
              <a:rPr lang="en-US" sz="1200" b="0" i="0" kern="1200" dirty="0">
                <a:solidFill>
                  <a:schemeClr val="tx1"/>
                </a:solidFill>
                <a:effectLst/>
                <a:latin typeface="+mn-lt"/>
                <a:ea typeface="+mn-ea"/>
                <a:cs typeface="+mn-cs"/>
              </a:rPr>
              <a:t>prolonged operative time ≥150 minutes (OR 1.51) and ≥300 minutes (OR, 1.95)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Protective factors:</a:t>
            </a:r>
          </a:p>
          <a:p>
            <a:r>
              <a:rPr lang="en-US" sz="1200" b="0" i="0" kern="1200" dirty="0">
                <a:solidFill>
                  <a:schemeClr val="tx1"/>
                </a:solidFill>
                <a:effectLst/>
                <a:latin typeface="+mn-lt"/>
                <a:ea typeface="+mn-ea"/>
                <a:cs typeface="+mn-cs"/>
              </a:rPr>
              <a:t>controlled diabetes (OR 0.75)</a:t>
            </a:r>
          </a:p>
          <a:p>
            <a:r>
              <a:rPr lang="en-US" sz="1200" b="0" i="0" kern="1200" dirty="0">
                <a:solidFill>
                  <a:schemeClr val="tx1"/>
                </a:solidFill>
                <a:effectLst/>
                <a:latin typeface="+mn-lt"/>
                <a:ea typeface="+mn-ea"/>
                <a:cs typeface="+mn-cs"/>
              </a:rPr>
              <a:t>controlled hypertension (OR 0.68), </a:t>
            </a:r>
          </a:p>
          <a:p>
            <a:r>
              <a:rPr lang="en-US" sz="1200" b="0" i="0" kern="1200" dirty="0">
                <a:solidFill>
                  <a:schemeClr val="tx1"/>
                </a:solidFill>
                <a:effectLst/>
                <a:latin typeface="+mn-lt"/>
                <a:ea typeface="+mn-ea"/>
                <a:cs typeface="+mn-cs"/>
              </a:rPr>
              <a:t>perioperative antibiotics (OR 0.74)</a:t>
            </a:r>
            <a:endParaRPr lang="en-US" sz="800" dirty="0">
              <a:latin typeface="Arial" panose="020B0604020202020204" pitchFamily="34" charset="0"/>
              <a:cs typeface="Arial" panose="020B0604020202020204" pitchFamily="34" charset="0"/>
            </a:endParaRPr>
          </a:p>
          <a:p>
            <a:endParaRPr lang="en-US" sz="800" b="1" dirty="0">
              <a:latin typeface="Arial" panose="020B0604020202020204" pitchFamily="34" charset="0"/>
              <a:cs typeface="Arial" panose="020B0604020202020204" pitchFamily="34" charset="0"/>
            </a:endParaRPr>
          </a:p>
          <a:p>
            <a:endParaRPr lang="en-US" sz="800" b="1" dirty="0">
              <a:latin typeface="Arial" panose="020B0604020202020204" pitchFamily="34" charset="0"/>
              <a:cs typeface="Arial" panose="020B0604020202020204" pitchFamily="34" charset="0"/>
            </a:endParaRPr>
          </a:p>
          <a:p>
            <a:r>
              <a:rPr lang="en-US" sz="800" b="1" dirty="0">
                <a:latin typeface="Arial" panose="020B0604020202020204" pitchFamily="34" charset="0"/>
                <a:cs typeface="Arial" panose="020B0604020202020204" pitchFamily="34" charset="0"/>
              </a:rPr>
              <a:t>IF presenting a groin SSI, give the Penn Groin scale score:</a:t>
            </a:r>
          </a:p>
          <a:p>
            <a:r>
              <a:rPr lang="en-US" sz="800" dirty="0">
                <a:latin typeface="Arial" panose="020B0604020202020204" pitchFamily="34" charset="0"/>
                <a:cs typeface="Arial" panose="020B0604020202020204" pitchFamily="34" charset="0"/>
              </a:rPr>
              <a:t>Penn Groin scale (Fischer JP et al. Plast </a:t>
            </a:r>
            <a:r>
              <a:rPr lang="en-US" sz="800" dirty="0" err="1">
                <a:latin typeface="Arial" panose="020B0604020202020204" pitchFamily="34" charset="0"/>
                <a:cs typeface="Arial" panose="020B0604020202020204" pitchFamily="34" charset="0"/>
              </a:rPr>
              <a:t>Reconstr</a:t>
            </a:r>
            <a:r>
              <a:rPr lang="en-US" sz="800" dirty="0">
                <a:latin typeface="Arial" panose="020B0604020202020204" pitchFamily="34" charset="0"/>
                <a:cs typeface="Arial" panose="020B0604020202020204" pitchFamily="34" charset="0"/>
              </a:rPr>
              <a:t>)</a:t>
            </a:r>
          </a:p>
          <a:p>
            <a:r>
              <a:rPr lang="en-US" sz="800" dirty="0">
                <a:latin typeface="Arial" panose="020B0604020202020204" pitchFamily="34" charset="0"/>
                <a:cs typeface="Arial" panose="020B0604020202020204" pitchFamily="34" charset="0"/>
              </a:rPr>
              <a:t>obesity 	+1</a:t>
            </a:r>
          </a:p>
          <a:p>
            <a:r>
              <a:rPr lang="en-US" sz="800" dirty="0">
                <a:latin typeface="Arial" panose="020B0604020202020204" pitchFamily="34" charset="0"/>
                <a:cs typeface="Arial" panose="020B0604020202020204" pitchFamily="34" charset="0"/>
              </a:rPr>
              <a:t>smoking	+2</a:t>
            </a:r>
          </a:p>
          <a:p>
            <a:r>
              <a:rPr lang="en-US" sz="800" dirty="0">
                <a:latin typeface="Arial" panose="020B0604020202020204" pitchFamily="34" charset="0"/>
                <a:cs typeface="Arial" panose="020B0604020202020204" pitchFamily="34" charset="0"/>
              </a:rPr>
              <a:t>reoperation	+2</a:t>
            </a:r>
          </a:p>
          <a:p>
            <a:r>
              <a:rPr lang="en-US" sz="800" dirty="0">
                <a:latin typeface="Arial" panose="020B0604020202020204" pitchFamily="34" charset="0"/>
                <a:cs typeface="Arial" panose="020B0604020202020204" pitchFamily="34" charset="0"/>
              </a:rPr>
              <a:t>prosthetic	+2</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low = 	0-2</a:t>
            </a:r>
          </a:p>
          <a:p>
            <a:r>
              <a:rPr lang="en-US" sz="800" dirty="0">
                <a:latin typeface="Arial" panose="020B0604020202020204" pitchFamily="34" charset="0"/>
                <a:cs typeface="Arial" panose="020B0604020202020204" pitchFamily="34" charset="0"/>
              </a:rPr>
              <a:t>intermediate = 3-4</a:t>
            </a:r>
          </a:p>
          <a:p>
            <a:r>
              <a:rPr lang="en-US" sz="800" dirty="0">
                <a:latin typeface="Arial" panose="020B0604020202020204" pitchFamily="34" charset="0"/>
                <a:cs typeface="Arial" panose="020B0604020202020204" pitchFamily="34" charset="0"/>
              </a:rPr>
              <a:t>high &gt;=5</a:t>
            </a:r>
          </a:p>
        </p:txBody>
      </p:sp>
      <p:sp>
        <p:nvSpPr>
          <p:cNvPr id="4" name="Slide Number Placeholder 3"/>
          <p:cNvSpPr>
            <a:spLocks noGrp="1"/>
          </p:cNvSpPr>
          <p:nvPr>
            <p:ph type="sldNum" sz="quarter" idx="5"/>
          </p:nvPr>
        </p:nvSpPr>
        <p:spPr/>
        <p:txBody>
          <a:bodyPr/>
          <a:lstStyle/>
          <a:p>
            <a:fld id="{CB31743D-965F-4E2B-A51F-B72A789B71D9}" type="slidenum">
              <a:rPr lang="en-US" smtClean="0"/>
              <a:t>2</a:t>
            </a:fld>
            <a:endParaRPr lang="en-US"/>
          </a:p>
        </p:txBody>
      </p:sp>
    </p:spTree>
    <p:extLst>
      <p:ext uri="{BB962C8B-B14F-4D97-AF65-F5344CB8AC3E}">
        <p14:creationId xmlns:p14="http://schemas.microsoft.com/office/powerpoint/2010/main" val="1709024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relevant imaging here)</a:t>
            </a:r>
          </a:p>
        </p:txBody>
      </p:sp>
      <p:sp>
        <p:nvSpPr>
          <p:cNvPr id="4" name="Slide Number Placeholder 3"/>
          <p:cNvSpPr>
            <a:spLocks noGrp="1"/>
          </p:cNvSpPr>
          <p:nvPr>
            <p:ph type="sldNum" sz="quarter" idx="5"/>
          </p:nvPr>
        </p:nvSpPr>
        <p:spPr/>
        <p:txBody>
          <a:bodyPr/>
          <a:lstStyle/>
          <a:p>
            <a:fld id="{CB31743D-965F-4E2B-A51F-B72A789B71D9}" type="slidenum">
              <a:rPr lang="en-US" smtClean="0"/>
              <a:t>3</a:t>
            </a:fld>
            <a:endParaRPr lang="en-US"/>
          </a:p>
        </p:txBody>
      </p:sp>
    </p:spTree>
    <p:extLst>
      <p:ext uri="{BB962C8B-B14F-4D97-AF65-F5344CB8AC3E}">
        <p14:creationId xmlns:p14="http://schemas.microsoft.com/office/powerpoint/2010/main" val="2977473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An example shown above.</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Differentiate between estimated onset, recognition, treatment and +/- resolution of a complication.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Adjust location of lines and text boxes based on timeframe, which can be a hospital stay OR other interval (ex. two month period from an initial outpatient procedure until discharge to a SNF, with all the discussed events in between).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Change the color gradient positions if you want to emphasize when the problem occurred.</a:t>
            </a:r>
          </a:p>
          <a:p>
            <a:endParaRPr lang="en-US" dirty="0"/>
          </a:p>
        </p:txBody>
      </p:sp>
      <p:sp>
        <p:nvSpPr>
          <p:cNvPr id="4" name="Slide Number Placeholder 3"/>
          <p:cNvSpPr>
            <a:spLocks noGrp="1"/>
          </p:cNvSpPr>
          <p:nvPr>
            <p:ph type="sldNum" sz="quarter" idx="5"/>
          </p:nvPr>
        </p:nvSpPr>
        <p:spPr/>
        <p:txBody>
          <a:bodyPr/>
          <a:lstStyle/>
          <a:p>
            <a:fld id="{CB31743D-965F-4E2B-A51F-B72A789B71D9}" type="slidenum">
              <a:rPr lang="en-US" smtClean="0"/>
              <a:t>4</a:t>
            </a:fld>
            <a:endParaRPr lang="en-US"/>
          </a:p>
        </p:txBody>
      </p:sp>
    </p:spTree>
    <p:extLst>
      <p:ext uri="{BB962C8B-B14F-4D97-AF65-F5344CB8AC3E}">
        <p14:creationId xmlns:p14="http://schemas.microsoft.com/office/powerpoint/2010/main" val="534200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err="1">
                <a:latin typeface="Arial" panose="020B0604020202020204" pitchFamily="34" charset="0"/>
                <a:cs typeface="Arial" panose="020B0604020202020204" pitchFamily="34" charset="0"/>
              </a:rPr>
              <a:t>Clavien-Dindo</a:t>
            </a:r>
            <a:r>
              <a:rPr lang="en-US" sz="800" dirty="0">
                <a:latin typeface="Arial" panose="020B0604020202020204" pitchFamily="34" charset="0"/>
                <a:cs typeface="Arial" panose="020B0604020202020204" pitchFamily="34" charset="0"/>
              </a:rPr>
              <a:t> severity</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lang="en-US" sz="800" u="sng" dirty="0">
                <a:latin typeface="Arial" panose="020B0604020202020204" pitchFamily="34" charset="0"/>
                <a:cs typeface="Arial" panose="020B0604020202020204" pitchFamily="34" charset="0"/>
              </a:rPr>
              <a:t>Paste the appropriate number and descriptor in the box.</a:t>
            </a:r>
          </a:p>
          <a:p>
            <a:endParaRPr lang="en-US" sz="800" dirty="0">
              <a:latin typeface="Arial" panose="020B0604020202020204" pitchFamily="34" charset="0"/>
              <a:cs typeface="Arial" panose="020B0604020202020204" pitchFamily="34" charset="0"/>
            </a:endParaRPr>
          </a:p>
          <a:p>
            <a:pPr lvl="1"/>
            <a:r>
              <a:rPr lang="en-US" sz="800" dirty="0">
                <a:latin typeface="Arial" panose="020B0604020202020204" pitchFamily="34" charset="0"/>
                <a:cs typeface="Arial" panose="020B0604020202020204" pitchFamily="34" charset="0"/>
              </a:rPr>
              <a:t>1: deviation from normal post-operative course without need for medication or other intervention</a:t>
            </a:r>
          </a:p>
          <a:p>
            <a:pPr lvl="1"/>
            <a:r>
              <a:rPr lang="en-US" sz="800" dirty="0">
                <a:latin typeface="Arial" panose="020B0604020202020204" pitchFamily="34" charset="0"/>
                <a:cs typeface="Arial" panose="020B0604020202020204" pitchFamily="34" charset="0"/>
              </a:rPr>
              <a:t>2. requires medications, transfusion, or wound re-opening at bedside</a:t>
            </a:r>
          </a:p>
          <a:p>
            <a:pPr lvl="1"/>
            <a:r>
              <a:rPr lang="en-US" sz="800" dirty="0">
                <a:latin typeface="Arial" panose="020B0604020202020204" pitchFamily="34" charset="0"/>
                <a:cs typeface="Arial" panose="020B0604020202020204" pitchFamily="34" charset="0"/>
              </a:rPr>
              <a:t>3a: requires unplanned reoperation, not under general anesthesia</a:t>
            </a:r>
          </a:p>
          <a:p>
            <a:pPr lvl="1"/>
            <a:r>
              <a:rPr lang="en-US" sz="800" dirty="0">
                <a:latin typeface="Arial" panose="020B0604020202020204" pitchFamily="34" charset="0"/>
                <a:cs typeface="Arial" panose="020B0604020202020204" pitchFamily="34" charset="0"/>
              </a:rPr>
              <a:t>3a: requires unplanned reoperation, under general anesthesia</a:t>
            </a:r>
          </a:p>
          <a:p>
            <a:pPr lvl="1"/>
            <a:r>
              <a:rPr lang="en-US" sz="800" dirty="0">
                <a:latin typeface="Arial" panose="020B0604020202020204" pitchFamily="34" charset="0"/>
                <a:cs typeface="Arial" panose="020B0604020202020204" pitchFamily="34" charset="0"/>
              </a:rPr>
              <a:t>4a: single organ dysfunction</a:t>
            </a:r>
          </a:p>
          <a:p>
            <a:pPr lvl="1"/>
            <a:r>
              <a:rPr lang="en-US" sz="800" dirty="0">
                <a:latin typeface="Arial" panose="020B0604020202020204" pitchFamily="34" charset="0"/>
                <a:cs typeface="Arial" panose="020B0604020202020204" pitchFamily="34" charset="0"/>
              </a:rPr>
              <a:t>4b: multiorgan dysfunction</a:t>
            </a:r>
          </a:p>
          <a:p>
            <a:pPr lvl="1"/>
            <a:r>
              <a:rPr lang="en-US" sz="800" dirty="0">
                <a:latin typeface="Arial" panose="020B0604020202020204" pitchFamily="34" charset="0"/>
                <a:cs typeface="Arial" panose="020B0604020202020204" pitchFamily="34" charset="0"/>
              </a:rPr>
              <a:t>5: death</a:t>
            </a:r>
          </a:p>
          <a:p>
            <a:endParaRPr lang="en-US"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rial" panose="020B0604020202020204" pitchFamily="34" charset="0"/>
                <a:cs typeface="Arial" panose="020B0604020202020204" pitchFamily="34" charset="0"/>
              </a:rPr>
              <a:t>I’ve modified the </a:t>
            </a:r>
            <a:r>
              <a:rPr lang="en-US" sz="800" dirty="0" err="1">
                <a:latin typeface="Arial" panose="020B0604020202020204" pitchFamily="34" charset="0"/>
                <a:cs typeface="Arial" panose="020B0604020202020204" pitchFamily="34" charset="0"/>
              </a:rPr>
              <a:t>Houskin</a:t>
            </a:r>
            <a:r>
              <a:rPr lang="en-US" sz="800" dirty="0">
                <a:latin typeface="Arial" panose="020B0604020202020204" pitchFamily="34" charset="0"/>
                <a:cs typeface="Arial" panose="020B0604020202020204" pitchFamily="34" charset="0"/>
              </a:rPr>
              <a:t> classification of errors, as I’ve been finding it not defined enough. I’m incorporating in what I think would be helpful terms from Goertz &amp; Levy publication on causality, plus the “factor” (error) classification in Suliburk et al.</a:t>
            </a:r>
          </a:p>
          <a:p>
            <a:endParaRPr lang="en-US" sz="800" dirty="0">
              <a:latin typeface="Arial" panose="020B0604020202020204" pitchFamily="34" charset="0"/>
              <a:cs typeface="Arial" panose="020B0604020202020204" pitchFamily="34" charset="0"/>
            </a:endParaRPr>
          </a:p>
          <a:p>
            <a:pPr marL="228600" indent="-228600">
              <a:buAutoNum type="arabicPeriod"/>
            </a:pPr>
            <a:r>
              <a:rPr lang="en-US" sz="800" b="1" dirty="0">
                <a:latin typeface="Arial" panose="020B0604020202020204" pitchFamily="34" charset="0"/>
                <a:cs typeface="Arial" panose="020B0604020202020204" pitchFamily="34" charset="0"/>
              </a:rPr>
              <a:t>Contributing factors, patient:</a:t>
            </a:r>
            <a:r>
              <a:rPr lang="en-US" sz="800" dirty="0">
                <a:latin typeface="Arial" panose="020B0604020202020204" pitchFamily="34" charset="0"/>
                <a:cs typeface="Arial" panose="020B0604020202020204" pitchFamily="34" charset="0"/>
              </a:rPr>
              <a:t> In general, a</a:t>
            </a:r>
            <a:r>
              <a:rPr lang="en-US" sz="800" b="0" dirty="0">
                <a:latin typeface="Arial" panose="020B0604020202020204" pitchFamily="34" charset="0"/>
                <a:cs typeface="Arial" panose="020B0604020202020204" pitchFamily="34" charset="0"/>
              </a:rPr>
              <a:t> contributing factor is a “factor that makes an outcome </a:t>
            </a:r>
            <a:r>
              <a:rPr lang="en-US" sz="800" b="0" u="sng" dirty="0">
                <a:latin typeface="Arial" panose="020B0604020202020204" pitchFamily="34" charset="0"/>
                <a:cs typeface="Arial" panose="020B0604020202020204" pitchFamily="34" charset="0"/>
              </a:rPr>
              <a:t>more likely</a:t>
            </a:r>
            <a:r>
              <a:rPr lang="en-US" sz="800" b="0" dirty="0">
                <a:latin typeface="Arial" panose="020B0604020202020204" pitchFamily="34" charset="0"/>
                <a:cs typeface="Arial" panose="020B0604020202020204" pitchFamily="34" charset="0"/>
              </a:rPr>
              <a:t> but which, by itself, will not lead to a particular outcome”. These would be patient-related: comorbidities, anatomy, self-care, insight, attitude towards health and health care system.</a:t>
            </a:r>
            <a:endParaRPr lang="en-US" sz="800" dirty="0">
              <a:latin typeface="Arial" panose="020B0604020202020204" pitchFamily="34" charset="0"/>
              <a:cs typeface="Arial" panose="020B0604020202020204" pitchFamily="34" charset="0"/>
            </a:endParaRPr>
          </a:p>
          <a:p>
            <a:pPr marL="228600" indent="-228600">
              <a:buAutoNum type="arabicPeriod"/>
            </a:pPr>
            <a:r>
              <a:rPr lang="en-US" sz="800" b="1" dirty="0">
                <a:latin typeface="Arial" panose="020B0604020202020204" pitchFamily="34" charset="0"/>
                <a:cs typeface="Arial" panose="020B0604020202020204" pitchFamily="34" charset="0"/>
              </a:rPr>
              <a:t>Contributing factors, non-patient: </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Planning</a:t>
            </a:r>
            <a:r>
              <a:rPr lang="en-US" sz="800" b="0" dirty="0">
                <a:effectLst/>
                <a:latin typeface="Arial" panose="020B0604020202020204" pitchFamily="34" charset="0"/>
                <a:ea typeface="Calibri" panose="020F0502020204030204" pitchFamily="34" charset="0"/>
                <a:cs typeface="Arial" panose="020B0604020202020204" pitchFamily="34" charset="0"/>
              </a:rPr>
              <a:t>: confirmation bias, rush to comply, false pattern matching, bias toward action.</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Knowledge</a:t>
            </a:r>
            <a:r>
              <a:rPr lang="en-US" sz="800" b="0" dirty="0">
                <a:effectLst/>
                <a:latin typeface="Arial" panose="020B0604020202020204" pitchFamily="34" charset="0"/>
                <a:ea typeface="Calibri" panose="020F0502020204030204" pitchFamily="34" charset="0"/>
                <a:cs typeface="Arial" panose="020B0604020202020204" pitchFamily="34" charset="0"/>
              </a:rPr>
              <a:t>: Novel situation for which previously learned rules/protocols don’t work, so have to think of </a:t>
            </a:r>
            <a:r>
              <a:rPr lang="en-US" sz="800" b="0" i="1" dirty="0">
                <a:effectLst/>
                <a:latin typeface="Arial" panose="020B0604020202020204" pitchFamily="34" charset="0"/>
                <a:ea typeface="Calibri" panose="020F0502020204030204" pitchFamily="34" charset="0"/>
                <a:cs typeface="Arial" panose="020B0604020202020204" pitchFamily="34" charset="0"/>
              </a:rPr>
              <a:t>de novo</a:t>
            </a:r>
            <a:r>
              <a:rPr lang="en-US" sz="800" b="0" dirty="0">
                <a:effectLst/>
                <a:latin typeface="Arial" panose="020B0604020202020204" pitchFamily="34" charset="0"/>
                <a:ea typeface="Calibri" panose="020F0502020204030204" pitchFamily="34" charset="0"/>
                <a:cs typeface="Arial" panose="020B0604020202020204" pitchFamily="34" charset="0"/>
              </a:rPr>
              <a:t> solution, but have either incorrect or insufficient base of knowledge or inaccurate logical reasoning.</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Cognitive bias in diagnosis</a:t>
            </a:r>
            <a:r>
              <a:rPr lang="en-US" sz="800" b="0" dirty="0">
                <a:effectLst/>
                <a:latin typeface="Arial" panose="020B0604020202020204" pitchFamily="34" charset="0"/>
                <a:ea typeface="Calibri" panose="020F0502020204030204" pitchFamily="34" charset="0"/>
                <a:cs typeface="Arial" panose="020B0604020202020204" pitchFamily="34" charset="0"/>
              </a:rPr>
              <a:t>: over-attachment to a diagnosis; availability bias (E.g. Aortic surgeon assumes new back pain is an acute aortic dissection and doesn’t diagnose acute pancreatitis); diagnostic momentum.</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Cognitive bias in treatment decisions</a:t>
            </a:r>
            <a:r>
              <a:rPr lang="en-US" sz="800" b="0" dirty="0">
                <a:effectLst/>
                <a:latin typeface="Arial" panose="020B0604020202020204" pitchFamily="34" charset="0"/>
                <a:ea typeface="Calibri" panose="020F0502020204030204" pitchFamily="34" charset="0"/>
                <a:cs typeface="Arial" panose="020B0604020202020204" pitchFamily="34" charset="0"/>
              </a:rPr>
              <a:t>: commission bias; omission bias.</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Execution errors</a:t>
            </a:r>
            <a:r>
              <a:rPr lang="en-US" sz="800" b="0" dirty="0">
                <a:effectLst/>
                <a:latin typeface="Arial" panose="020B0604020202020204" pitchFamily="34" charset="0"/>
                <a:ea typeface="Calibri" panose="020F0502020204030204" pitchFamily="34" charset="0"/>
                <a:cs typeface="Arial" panose="020B0604020202020204" pitchFamily="34" charset="0"/>
              </a:rPr>
              <a:t>: slips, lapses, fumbles, attention deficit, distraction, situational awareness</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Perception error (misidentified abnormal patient condition, lab, anatomy, “we thought we saw this, but it was that”)</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Distraction/Attention error (missed lab, Lapsed OR timeout, interruption in normal flow)</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Memory error (forgot to write order, forgot patient-specific aberrancy)</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Insufficient Practice (volume of procedure done by surgery team perceived as not adequate for expertise)</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Technical skill - (Needle travels too deep during fascial closure, causing enterotomy)  </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Rules violation</a:t>
            </a:r>
            <a:r>
              <a:rPr lang="en-US" sz="800" b="0" dirty="0">
                <a:effectLst/>
                <a:latin typeface="Arial" panose="020B0604020202020204" pitchFamily="34" charset="0"/>
                <a:ea typeface="Calibri" panose="020F0502020204030204" pitchFamily="34" charset="0"/>
                <a:cs typeface="Arial" panose="020B0604020202020204" pitchFamily="34" charset="0"/>
              </a:rPr>
              <a:t>: conscious decision to deviate from safe operating practice, expecting adverse consequences would be avoided</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Routine (“cutting corners”)</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Optimizing/personal gain</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Communication</a:t>
            </a:r>
            <a:r>
              <a:rPr lang="en-US" sz="800" b="0" dirty="0">
                <a:effectLst/>
                <a:latin typeface="Arial" panose="020B0604020202020204" pitchFamily="34" charset="0"/>
                <a:ea typeface="Calibri" panose="020F0502020204030204" pitchFamily="34" charset="0"/>
                <a:cs typeface="Arial" panose="020B0604020202020204" pitchFamily="34" charset="0"/>
              </a:rPr>
              <a:t>:</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Absent (Didn’t sign out patient’s cardiac history)</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Assumed (Intern assumes chief resident meant to give patient double dose of anticoagulant)</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Misinterpreted (Both teams think the other is primary, so no orders get placed)</a:t>
            </a:r>
          </a:p>
          <a:p>
            <a:pPr marL="685800" lvl="1" indent="-228600">
              <a:buFont typeface="+mj-lt"/>
              <a:buAutoNum type="alphaLcParenR"/>
            </a:pPr>
            <a:r>
              <a:rPr lang="en-US" sz="800" b="0" u="sng" dirty="0">
                <a:effectLst/>
                <a:latin typeface="Arial" panose="020B0604020202020204" pitchFamily="34" charset="0"/>
                <a:ea typeface="Calibri" panose="020F0502020204030204" pitchFamily="34" charset="0"/>
                <a:cs typeface="Arial" panose="020B0604020202020204" pitchFamily="34" charset="0"/>
              </a:rPr>
              <a:t>Teamwork/group trap</a:t>
            </a:r>
            <a:r>
              <a:rPr lang="en-US" sz="800" b="0" dirty="0">
                <a:effectLst/>
                <a:latin typeface="Arial" panose="020B0604020202020204" pitchFamily="34" charset="0"/>
                <a:ea typeface="Calibri" panose="020F0502020204030204" pitchFamily="34" charset="0"/>
                <a:cs typeface="Arial" panose="020B0604020202020204" pitchFamily="34" charset="0"/>
              </a:rPr>
              <a:t>: collective decision/plan is erroneous, esp. if multiple teams are involved</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Lack of leadership in group meeting (roles ill-defined; “I thought you were doing it”)</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No recognition of lack of subject matter expert within group (The blind leading the blind)</a:t>
            </a:r>
          </a:p>
          <a:p>
            <a:pPr marL="1143000" lvl="2" indent="-228600">
              <a:buFont typeface="Arial" panose="020B0604020202020204" pitchFamily="34" charset="0"/>
              <a:buChar char="‒"/>
            </a:pPr>
            <a:r>
              <a:rPr lang="en-US" sz="800" b="0" dirty="0">
                <a:effectLst/>
                <a:latin typeface="Arial" panose="020B0604020202020204" pitchFamily="34" charset="0"/>
                <a:ea typeface="Calibri" panose="020F0502020204030204" pitchFamily="34" charset="0"/>
                <a:cs typeface="Arial" panose="020B0604020202020204" pitchFamily="34" charset="0"/>
              </a:rPr>
              <a:t>No pause to ensure milestones met (Missing the forest for the trees, failing to periodically reevaluate progress of plan)</a:t>
            </a:r>
          </a:p>
          <a:p>
            <a:pPr marL="685800" lvl="1" indent="-228600">
              <a:buFont typeface="+mj-lt"/>
              <a:buAutoNum type="alphaLcParenR"/>
            </a:pPr>
            <a:r>
              <a:rPr lang="en-US" sz="800" u="sng" dirty="0">
                <a:latin typeface="Arial" panose="020B0604020202020204" pitchFamily="34" charset="0"/>
                <a:cs typeface="Arial" panose="020B0604020202020204" pitchFamily="34" charset="0"/>
              </a:rPr>
              <a:t>Other systems “factors”</a:t>
            </a:r>
            <a:r>
              <a:rPr lang="en-US" sz="800" dirty="0">
                <a:latin typeface="Arial" panose="020B0604020202020204" pitchFamily="34" charset="0"/>
                <a:cs typeface="Arial" panose="020B0604020202020204" pitchFamily="34" charset="0"/>
              </a:rPr>
              <a:t>:  Technical issues with equipment, other.</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800" b="1" dirty="0">
                <a:latin typeface="Arial" panose="020B0604020202020204" pitchFamily="34" charset="0"/>
                <a:cs typeface="Arial" panose="020B0604020202020204" pitchFamily="34" charset="0"/>
              </a:rPr>
              <a:t>Anticipated?</a:t>
            </a:r>
            <a:r>
              <a:rPr lang="en-US" sz="800" dirty="0">
                <a:latin typeface="Arial" panose="020B0604020202020204" pitchFamily="34" charset="0"/>
                <a:cs typeface="Arial" panose="020B0604020202020204" pitchFamily="34" charset="0"/>
              </a:rPr>
              <a:t> Risk factors for the complication being reviewed were recognized </a:t>
            </a:r>
            <a:r>
              <a:rPr lang="en-US" sz="800" u="sng" dirty="0">
                <a:latin typeface="Arial" panose="020B0604020202020204" pitchFamily="34" charset="0"/>
                <a:cs typeface="Arial" panose="020B0604020202020204" pitchFamily="34" charset="0"/>
              </a:rPr>
              <a:t>before</a:t>
            </a:r>
            <a:r>
              <a:rPr lang="en-US" sz="800" dirty="0">
                <a:latin typeface="Arial" panose="020B0604020202020204" pitchFamily="34" charset="0"/>
                <a:cs typeface="Arial" panose="020B0604020202020204" pitchFamily="34" charset="0"/>
              </a:rPr>
              <a:t> the procedure, and specific steps were taken to reduce the risk – steps </a:t>
            </a:r>
            <a:r>
              <a:rPr lang="en-US" sz="800" i="1" dirty="0">
                <a:latin typeface="Arial" panose="020B0604020202020204" pitchFamily="34" charset="0"/>
                <a:cs typeface="Arial" panose="020B0604020202020204" pitchFamily="34" charset="0"/>
              </a:rPr>
              <a:t>beyond </a:t>
            </a:r>
            <a:r>
              <a:rPr lang="en-US" sz="800" dirty="0">
                <a:latin typeface="Arial" panose="020B0604020202020204" pitchFamily="34" charset="0"/>
                <a:cs typeface="Arial" panose="020B0604020202020204" pitchFamily="34" charset="0"/>
              </a:rPr>
              <a:t>the routine pre-op preparations.</a:t>
            </a:r>
          </a:p>
          <a:p>
            <a:pPr marL="228600" indent="-228600">
              <a:buAutoNum type="arabicPeriod"/>
            </a:pPr>
            <a:r>
              <a:rPr lang="en-US" sz="800" b="1" dirty="0">
                <a:latin typeface="Arial" panose="020B0604020202020204" pitchFamily="34" charset="0"/>
                <a:cs typeface="Arial" panose="020B0604020202020204" pitchFamily="34" charset="0"/>
              </a:rPr>
              <a:t>Avoidable?</a:t>
            </a:r>
            <a:r>
              <a:rPr lang="en-US" sz="800" dirty="0">
                <a:latin typeface="Arial" panose="020B0604020202020204" pitchFamily="34" charset="0"/>
                <a:cs typeface="Arial" panose="020B0604020202020204" pitchFamily="34" charset="0"/>
              </a:rPr>
              <a:t> One or more </a:t>
            </a:r>
            <a:r>
              <a:rPr lang="en-US" sz="800" b="1" dirty="0">
                <a:latin typeface="Arial" panose="020B0604020202020204" pitchFamily="34" charset="0"/>
                <a:cs typeface="Arial" panose="020B0604020202020204" pitchFamily="34" charset="0"/>
              </a:rPr>
              <a:t>sufficient conditions</a:t>
            </a:r>
            <a:r>
              <a:rPr lang="en-US" sz="800" dirty="0">
                <a:latin typeface="Arial" panose="020B0604020202020204" pitchFamily="34" charset="0"/>
                <a:cs typeface="Arial" panose="020B0604020202020204" pitchFamily="34" charset="0"/>
              </a:rPr>
              <a:t> – “</a:t>
            </a:r>
            <a:r>
              <a:rPr lang="en-US" sz="800" b="0" dirty="0">
                <a:latin typeface="Arial" panose="020B0604020202020204" pitchFamily="34" charset="0"/>
                <a:cs typeface="Arial" panose="020B0604020202020204" pitchFamily="34" charset="0"/>
              </a:rPr>
              <a:t>factor that can, by itself, lead to an outcome” – was present and avoidable.</a:t>
            </a:r>
          </a:p>
          <a:p>
            <a:pPr marL="228600" indent="-228600">
              <a:buAutoNum type="arabicPeriod"/>
            </a:pPr>
            <a:r>
              <a:rPr lang="en-US" sz="800" b="1" dirty="0">
                <a:latin typeface="Arial" panose="020B0604020202020204" pitchFamily="34" charset="0"/>
                <a:cs typeface="Arial" panose="020B0604020202020204" pitchFamily="34" charset="0"/>
              </a:rPr>
              <a:t>Recognized early?</a:t>
            </a:r>
            <a:r>
              <a:rPr lang="en-US" sz="800" b="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The complication </a:t>
            </a:r>
            <a:r>
              <a:rPr lang="en-US" sz="800" u="sng" dirty="0">
                <a:latin typeface="Arial" panose="020B0604020202020204" pitchFamily="34" charset="0"/>
                <a:cs typeface="Arial" panose="020B0604020202020204" pitchFamily="34" charset="0"/>
              </a:rPr>
              <a:t>could not reasonably</a:t>
            </a:r>
            <a:r>
              <a:rPr lang="en-US" sz="800" dirty="0">
                <a:latin typeface="Arial" panose="020B0604020202020204" pitchFamily="34" charset="0"/>
                <a:cs typeface="Arial" panose="020B0604020202020204" pitchFamily="34" charset="0"/>
              </a:rPr>
              <a:t> have been identified earlier (“reasonable” = through typical post-operative care). </a:t>
            </a:r>
          </a:p>
          <a:p>
            <a:pPr marL="228600" indent="-228600">
              <a:buAutoNum type="arabicPeriod"/>
            </a:pPr>
            <a:r>
              <a:rPr lang="en-US" sz="800" b="1" dirty="0">
                <a:latin typeface="Arial" panose="020B0604020202020204" pitchFamily="34" charset="0"/>
                <a:cs typeface="Arial" panose="020B0604020202020204" pitchFamily="34" charset="0"/>
              </a:rPr>
              <a:t>Treatment timely?</a:t>
            </a:r>
            <a:r>
              <a:rPr lang="en-US" sz="800" dirty="0">
                <a:latin typeface="Arial" panose="020B0604020202020204" pitchFamily="34" charset="0"/>
                <a:cs typeface="Arial" panose="020B0604020202020204" pitchFamily="34" charset="0"/>
              </a:rPr>
              <a:t> The treatment could not reasonably have been addressed earlier, or that timing did NOT impair effectiveness of treatment.</a:t>
            </a:r>
          </a:p>
          <a:p>
            <a:pPr marL="0" indent="0">
              <a:buFont typeface="+mj-lt"/>
              <a:buNone/>
            </a:pPr>
            <a:endParaRPr lang="en-US" sz="800" dirty="0">
              <a:latin typeface="Arial" panose="020B0604020202020204" pitchFamily="34" charset="0"/>
              <a:cs typeface="Arial" panose="020B0604020202020204" pitchFamily="34" charset="0"/>
            </a:endParaRPr>
          </a:p>
          <a:p>
            <a:pPr marL="685800" lvl="1" indent="-228600">
              <a:buFont typeface="+mj-lt"/>
              <a:buAutoNum type="arabicPeriod"/>
            </a:pPr>
            <a:endParaRPr lang="en-US" sz="800" b="0" dirty="0">
              <a:latin typeface="Arial" panose="020B0604020202020204" pitchFamily="34" charset="0"/>
              <a:cs typeface="Arial" panose="020B0604020202020204" pitchFamily="34" charset="0"/>
            </a:endParaRPr>
          </a:p>
          <a:p>
            <a:pPr marL="685800" lvl="1" indent="-228600">
              <a:buFont typeface="+mj-lt"/>
              <a:buAutoNum type="arabicPeriod"/>
            </a:pPr>
            <a:endParaRPr lang="en-US" sz="800" b="0" dirty="0">
              <a:latin typeface="Arial" panose="020B0604020202020204" pitchFamily="34" charset="0"/>
              <a:cs typeface="Arial" panose="020B0604020202020204" pitchFamily="34" charset="0"/>
            </a:endParaRPr>
          </a:p>
          <a:p>
            <a:pPr marL="0" lvl="0" indent="0">
              <a:buFont typeface="+mj-lt"/>
              <a:buNone/>
            </a:pP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Dindo</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Demartines</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N,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Clavian</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P-A. Classification of Surgical Complications. </a:t>
            </a:r>
            <a:r>
              <a:rPr kumimoji="0" lang="en-US" sz="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Ann Surg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2004; 240:205</a:t>
            </a:r>
            <a:endParaRPr lang="en-US" sz="800" b="0" dirty="0">
              <a:latin typeface="Arial" panose="020B0604020202020204" pitchFamily="34" charset="0"/>
              <a:cs typeface="Arial" panose="020B0604020202020204" pitchFamily="34" charset="0"/>
            </a:endParaRPr>
          </a:p>
          <a:p>
            <a:pPr marL="0" lvl="0" indent="0">
              <a:buFont typeface="+mj-lt"/>
              <a:buNone/>
            </a:pPr>
            <a:endParaRPr lang="en-US" sz="800" b="0" dirty="0">
              <a:latin typeface="Arial" panose="020B0604020202020204" pitchFamily="34" charset="0"/>
              <a:cs typeface="Arial" panose="020B0604020202020204" pitchFamily="34" charset="0"/>
            </a:endParaRPr>
          </a:p>
          <a:p>
            <a:pPr marL="0" lvl="0" indent="0">
              <a:buFont typeface="+mj-lt"/>
              <a:buNone/>
            </a:pPr>
            <a:r>
              <a:rPr lang="en-US" sz="800" dirty="0">
                <a:latin typeface="Arial" panose="020B0604020202020204" pitchFamily="34" charset="0"/>
                <a:cs typeface="Arial" panose="020B0604020202020204" pitchFamily="34" charset="0"/>
              </a:rPr>
              <a:t>Goertz G, Levy JS. "Causal explanation, necessary conditions, and case studies." In Goetz G, Levy JS (eds). Explaining War and Peace: Case Studies and Necessary Condition Counterfactuals. New York: Routledge, 2007</a:t>
            </a:r>
            <a:endParaRPr lang="en-US" sz="800" b="0" dirty="0">
              <a:latin typeface="Arial" panose="020B0604020202020204" pitchFamily="34" charset="0"/>
              <a:cs typeface="Arial" panose="020B0604020202020204" pitchFamily="34" charset="0"/>
            </a:endParaRPr>
          </a:p>
          <a:p>
            <a:pPr marL="0" lvl="0" indent="0">
              <a:buFont typeface="+mj-lt"/>
              <a:buNone/>
            </a:pPr>
            <a:endParaRPr lang="en-US" sz="800" b="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b="0" i="0" dirty="0">
                <a:solidFill>
                  <a:srgbClr val="212121"/>
                </a:solidFill>
                <a:effectLst/>
                <a:latin typeface="Arial" panose="020B0604020202020204" pitchFamily="34" charset="0"/>
                <a:cs typeface="Arial" panose="020B0604020202020204" pitchFamily="34" charset="0"/>
              </a:rPr>
              <a:t>Suliburk JW, Buck QM, </a:t>
            </a:r>
            <a:r>
              <a:rPr lang="en-US" sz="800" b="0" i="0" dirty="0" err="1">
                <a:solidFill>
                  <a:srgbClr val="212121"/>
                </a:solidFill>
                <a:effectLst/>
                <a:latin typeface="Arial" panose="020B0604020202020204" pitchFamily="34" charset="0"/>
                <a:cs typeface="Arial" panose="020B0604020202020204" pitchFamily="34" charset="0"/>
              </a:rPr>
              <a:t>Pirko</a:t>
            </a:r>
            <a:r>
              <a:rPr lang="en-US" sz="800" b="0" i="0" dirty="0">
                <a:solidFill>
                  <a:srgbClr val="212121"/>
                </a:solidFill>
                <a:effectLst/>
                <a:latin typeface="Arial" panose="020B0604020202020204" pitchFamily="34" charset="0"/>
                <a:cs typeface="Arial" panose="020B0604020202020204" pitchFamily="34" charset="0"/>
              </a:rPr>
              <a:t> CJ, </a:t>
            </a:r>
            <a:r>
              <a:rPr lang="en-US" sz="800" b="0" i="0" dirty="0" err="1">
                <a:solidFill>
                  <a:srgbClr val="212121"/>
                </a:solidFill>
                <a:effectLst/>
                <a:latin typeface="Arial" panose="020B0604020202020204" pitchFamily="34" charset="0"/>
                <a:cs typeface="Arial" panose="020B0604020202020204" pitchFamily="34" charset="0"/>
              </a:rPr>
              <a:t>Massarweh</a:t>
            </a:r>
            <a:r>
              <a:rPr lang="en-US" sz="800" b="0" i="0" dirty="0">
                <a:solidFill>
                  <a:srgbClr val="212121"/>
                </a:solidFill>
                <a:effectLst/>
                <a:latin typeface="Arial" panose="020B0604020202020204" pitchFamily="34" charset="0"/>
                <a:cs typeface="Arial" panose="020B0604020202020204" pitchFamily="34" charset="0"/>
              </a:rPr>
              <a:t> NN, Barshes NR, Singh H, Rosengart TK. Analysis of Human Performance Deficiencies Associated With Surgical Adverse Events. </a:t>
            </a:r>
            <a:r>
              <a:rPr lang="en-US" sz="800" b="0" i="1" dirty="0">
                <a:solidFill>
                  <a:srgbClr val="212121"/>
                </a:solidFill>
                <a:effectLst/>
                <a:latin typeface="Arial" panose="020B0604020202020204" pitchFamily="34" charset="0"/>
                <a:cs typeface="Arial" panose="020B0604020202020204" pitchFamily="34" charset="0"/>
              </a:rPr>
              <a:t>JAMA </a:t>
            </a:r>
            <a:r>
              <a:rPr lang="en-US" sz="800" b="0" i="1" dirty="0" err="1">
                <a:solidFill>
                  <a:srgbClr val="212121"/>
                </a:solidFill>
                <a:effectLst/>
                <a:latin typeface="Arial" panose="020B0604020202020204" pitchFamily="34" charset="0"/>
                <a:cs typeface="Arial" panose="020B0604020202020204" pitchFamily="34" charset="0"/>
              </a:rPr>
              <a:t>Netw</a:t>
            </a:r>
            <a:r>
              <a:rPr lang="en-US" sz="800" b="0" i="1" dirty="0">
                <a:solidFill>
                  <a:srgbClr val="212121"/>
                </a:solidFill>
                <a:effectLst/>
                <a:latin typeface="Arial" panose="020B0604020202020204" pitchFamily="34" charset="0"/>
                <a:cs typeface="Arial" panose="020B0604020202020204" pitchFamily="34" charset="0"/>
              </a:rPr>
              <a:t> Open</a:t>
            </a:r>
            <a:r>
              <a:rPr lang="en-US" sz="800" b="0" i="0" dirty="0">
                <a:solidFill>
                  <a:srgbClr val="212121"/>
                </a:solidFill>
                <a:effectLst/>
                <a:latin typeface="Arial" panose="020B0604020202020204" pitchFamily="34" charset="0"/>
                <a:cs typeface="Arial" panose="020B0604020202020204" pitchFamily="34" charset="0"/>
              </a:rPr>
              <a:t> 2019;2:e198067. PMID: 31365107.</a:t>
            </a:r>
            <a:endParaRPr lang="en-US" sz="800" dirty="0">
              <a:latin typeface="Arial" panose="020B0604020202020204" pitchFamily="34" charset="0"/>
              <a:cs typeface="Arial" panose="020B0604020202020204" pitchFamily="34" charset="0"/>
            </a:endParaRPr>
          </a:p>
          <a:p>
            <a:pPr marL="0" lvl="0" indent="0">
              <a:buFont typeface="+mj-lt"/>
              <a:buNone/>
            </a:pPr>
            <a:endParaRPr lang="en-US" sz="800" b="0" dirty="0">
              <a:latin typeface="Arial" panose="020B0604020202020204" pitchFamily="34" charset="0"/>
              <a:cs typeface="Arial" panose="020B0604020202020204" pitchFamily="34" charset="0"/>
            </a:endParaRPr>
          </a:p>
          <a:p>
            <a:endParaRPr lang="en-US" sz="8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CB31743D-965F-4E2B-A51F-B72A789B71D9}" type="slidenum">
              <a:rPr lang="en-US" smtClean="0"/>
              <a:t>5</a:t>
            </a:fld>
            <a:endParaRPr lang="en-US"/>
          </a:p>
        </p:txBody>
      </p:sp>
    </p:spTree>
    <p:extLst>
      <p:ext uri="{BB962C8B-B14F-4D97-AF65-F5344CB8AC3E}">
        <p14:creationId xmlns:p14="http://schemas.microsoft.com/office/powerpoint/2010/main" val="889295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Focus on the one most relevant study on recognizing, preventing, or treating this complication.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Can briefly describe other studies to point out similarities or differences, but better to go through one in depth than five at a superficial level.</a:t>
            </a:r>
          </a:p>
          <a:p>
            <a:endParaRPr lang="en-US" dirty="0"/>
          </a:p>
        </p:txBody>
      </p:sp>
      <p:sp>
        <p:nvSpPr>
          <p:cNvPr id="4" name="Slide Number Placeholder 3"/>
          <p:cNvSpPr>
            <a:spLocks noGrp="1"/>
          </p:cNvSpPr>
          <p:nvPr>
            <p:ph type="sldNum" sz="quarter" idx="5"/>
          </p:nvPr>
        </p:nvSpPr>
        <p:spPr/>
        <p:txBody>
          <a:bodyPr/>
          <a:lstStyle/>
          <a:p>
            <a:fld id="{CB31743D-965F-4E2B-A51F-B72A789B71D9}" type="slidenum">
              <a:rPr lang="en-US" smtClean="0"/>
              <a:t>6</a:t>
            </a:fld>
            <a:endParaRPr lang="en-US"/>
          </a:p>
        </p:txBody>
      </p:sp>
    </p:spTree>
    <p:extLst>
      <p:ext uri="{BB962C8B-B14F-4D97-AF65-F5344CB8AC3E}">
        <p14:creationId xmlns:p14="http://schemas.microsoft.com/office/powerpoint/2010/main" val="524132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Discuss what (if any) changes will be made in the future. Be realistic; what can </a:t>
            </a:r>
            <a:r>
              <a:rPr lang="en-US" sz="800" i="1" dirty="0">
                <a:latin typeface="Arial" panose="020B0604020202020204" pitchFamily="34" charset="0"/>
                <a:cs typeface="Arial" panose="020B0604020202020204" pitchFamily="34" charset="0"/>
              </a:rPr>
              <a:t>actually</a:t>
            </a:r>
            <a:r>
              <a:rPr lang="en-US" sz="800" i="0" dirty="0">
                <a:latin typeface="Arial" panose="020B0604020202020204" pitchFamily="34" charset="0"/>
                <a:cs typeface="Arial" panose="020B0604020202020204" pitchFamily="34" charset="0"/>
              </a:rPr>
              <a:t> be going forward? Be specific, not general.</a:t>
            </a:r>
            <a:endParaRPr lang="en-US" sz="800" dirty="0">
              <a:latin typeface="Arial" panose="020B0604020202020204" pitchFamily="34" charset="0"/>
              <a:cs typeface="Arial" panose="020B0604020202020204" pitchFamily="34" charset="0"/>
            </a:endParaRP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“Made durable by”: how will this knowledge be disseminated? How will the change be made reliable, so that everyone will know/do this?</a:t>
            </a:r>
          </a:p>
          <a:p>
            <a:endParaRPr lang="en-US" sz="800"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CB31743D-965F-4E2B-A51F-B72A789B71D9}" type="slidenum">
              <a:rPr lang="en-US" smtClean="0"/>
              <a:t>7</a:t>
            </a:fld>
            <a:endParaRPr lang="en-US"/>
          </a:p>
        </p:txBody>
      </p:sp>
    </p:spTree>
    <p:extLst>
      <p:ext uri="{BB962C8B-B14F-4D97-AF65-F5344CB8AC3E}">
        <p14:creationId xmlns:p14="http://schemas.microsoft.com/office/powerpoint/2010/main" val="937666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F90D-81BA-4E68-9F6E-C7D64C6301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D1AEEA-F77D-4D60-8CA9-060E1839A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D4ABE8-D5C8-44DB-A7F4-C70A5BBFD173}"/>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CF6E1CD4-0ECB-4C2D-94DA-79D41A7F3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949314-ABCF-423B-A0B2-2C387CE4D7B2}"/>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752435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18F87-F348-4277-AE20-97BD6AE8FA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10A2D9-11FE-4EFD-9216-4EB294B86D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FF41AA-0CE6-48A4-A498-5E4A98109E57}"/>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7C510664-0423-495B-A816-2678ADED0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253E9-5E8D-464D-8A8D-0F6EC846C200}"/>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4255429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2042D-B04A-403E-99C1-34AB744E00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7DCCF2-D318-458A-BB78-376F8B5A4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0619FD-EE07-465E-98B2-BCD6095F9F7C}"/>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47E8E23A-9580-4AAF-A142-F33149409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6976C-6ACD-497A-B9E8-4A842788AFE7}"/>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99712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B0ED-C2AF-4688-92F1-B0E9E14F6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4790CD-7F65-4CF6-A2A6-9941F691FD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B15212-C280-4164-9A6A-2BDEFE26BC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B544D9-CE9C-40ED-8906-F1DA0A673BD7}"/>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6" name="Footer Placeholder 5">
            <a:extLst>
              <a:ext uri="{FF2B5EF4-FFF2-40B4-BE49-F238E27FC236}">
                <a16:creationId xmlns:a16="http://schemas.microsoft.com/office/drawing/2014/main" id="{112E1141-AAFE-4402-9E2D-1606D62E88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15FA0-6785-4FDA-8A9C-003E66CEC131}"/>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745101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15379-2F41-4907-932E-986644EDB6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E4DC61-B2FE-47B9-9782-79DE723BF9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1597D3-DB46-4AF7-A1FC-F2F92F35AD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F61273-6CAB-4446-B030-616082FD06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F6A0A-E02C-4360-B998-B9862B44F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08677D-8C79-4351-BA21-27B320724FF0}"/>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8" name="Footer Placeholder 7">
            <a:extLst>
              <a:ext uri="{FF2B5EF4-FFF2-40B4-BE49-F238E27FC236}">
                <a16:creationId xmlns:a16="http://schemas.microsoft.com/office/drawing/2014/main" id="{5E1D4562-8BC4-4921-AA2C-CEDACC022A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0C2A6-77FE-460C-A4E3-538C60275A90}"/>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349631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CE99-022A-4C80-9A75-7527BF6C83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B54080-5525-46FB-8B5F-D3ADD65F9F2C}"/>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4" name="Footer Placeholder 3">
            <a:extLst>
              <a:ext uri="{FF2B5EF4-FFF2-40B4-BE49-F238E27FC236}">
                <a16:creationId xmlns:a16="http://schemas.microsoft.com/office/drawing/2014/main" id="{B76D14F1-A71D-48BE-9F8A-FC9A2C3230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BAA9BD-2469-4E32-989C-1A954C7F24E4}"/>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953379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D2D5B7-4945-4644-9DB0-5AEDAE7FCCD6}"/>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3" name="Footer Placeholder 2">
            <a:extLst>
              <a:ext uri="{FF2B5EF4-FFF2-40B4-BE49-F238E27FC236}">
                <a16:creationId xmlns:a16="http://schemas.microsoft.com/office/drawing/2014/main" id="{3BAB944D-7037-4A54-9571-3BAC1BB41F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D07D7D-078D-4D64-84A1-0339620DBA11}"/>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1727604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217B-7E00-4D56-9BE2-6A13FFD9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AF736B-154C-4D21-BE9D-5FCCB90CF2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3FCFF1-3D76-4B61-AF90-21F353802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64850-321A-4F23-832F-C629BF829461}"/>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6" name="Footer Placeholder 5">
            <a:extLst>
              <a:ext uri="{FF2B5EF4-FFF2-40B4-BE49-F238E27FC236}">
                <a16:creationId xmlns:a16="http://schemas.microsoft.com/office/drawing/2014/main" id="{131F5847-DFA6-496E-A65B-962416E19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C28EE-2A6E-4084-919F-EDFEDAFE171C}"/>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196928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E15D-8FB9-4253-A8D5-161636AFD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367F47-88F1-42B8-9C71-B54DCA640B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BC53A4-0CF0-4513-9A0F-AA4876C4F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FA1CB1-E4E2-4475-B0EB-C2385E37BA57}"/>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6" name="Footer Placeholder 5">
            <a:extLst>
              <a:ext uri="{FF2B5EF4-FFF2-40B4-BE49-F238E27FC236}">
                <a16:creationId xmlns:a16="http://schemas.microsoft.com/office/drawing/2014/main" id="{3B0E331C-98FC-4EBD-A115-50985B35AF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FFA532-6B30-475E-8996-673C3CAEB2E4}"/>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419360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E8800-D2DD-4046-AFE8-AF4112884B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082CF4-2ECC-4EEF-BEF5-61F747CA17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3A0E9F-8248-4620-BAAF-0289FD750406}"/>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13D59429-B40E-4D5F-9726-C158B0A0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315E9-8298-4DAD-83AE-ACCE12EE2065}"/>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630966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E6E1B8-AFCA-4DF0-9195-13F5CF33B9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94B1A-DBBD-43EE-B08C-7FE365A876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88AAE-1AB0-4369-8A5E-7DD1D10AD760}"/>
              </a:ext>
            </a:extLst>
          </p:cNvPr>
          <p:cNvSpPr>
            <a:spLocks noGrp="1"/>
          </p:cNvSpPr>
          <p:nvPr>
            <p:ph type="dt" sz="half" idx="10"/>
          </p:nvPr>
        </p:nvSpPr>
        <p:spPr/>
        <p:txBody>
          <a:body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A38AB15B-2E0F-486C-B4C2-7C1558555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6B86E-8EFA-4363-B970-8D7841F6DDBA}"/>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07786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D7A881-22F0-4A3A-837D-18832427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458425-EEC5-4F78-B1C4-02DF0380C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FC363-607F-4E00-91BB-FA89C01394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AA7DE6-C7DC-4DDD-8F7C-44503E3EDBA3}" type="datetimeFigureOut">
              <a:rPr lang="en-US" smtClean="0"/>
              <a:t>3/20/2026</a:t>
            </a:fld>
            <a:endParaRPr lang="en-US"/>
          </a:p>
        </p:txBody>
      </p:sp>
      <p:sp>
        <p:nvSpPr>
          <p:cNvPr id="5" name="Footer Placeholder 4">
            <a:extLst>
              <a:ext uri="{FF2B5EF4-FFF2-40B4-BE49-F238E27FC236}">
                <a16:creationId xmlns:a16="http://schemas.microsoft.com/office/drawing/2014/main" id="{0F1C8415-9C65-4557-AE8A-7AC0562A94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0C9EEB-13DF-4ECA-AE94-6C7D9F2B86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09A96-0AF8-4438-B48A-9ACE1EC76A44}" type="slidenum">
              <a:rPr lang="en-US" smtClean="0"/>
              <a:t>‹#›</a:t>
            </a:fld>
            <a:endParaRPr lang="en-US"/>
          </a:p>
        </p:txBody>
      </p:sp>
    </p:spTree>
    <p:extLst>
      <p:ext uri="{BB962C8B-B14F-4D97-AF65-F5344CB8AC3E}">
        <p14:creationId xmlns:p14="http://schemas.microsoft.com/office/powerpoint/2010/main" val="1661264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pic>
        <p:nvPicPr>
          <p:cNvPr id="21" name="Picture 20" descr="Text&#10;&#10;AI-generated content may be incorrect.">
            <a:extLst>
              <a:ext uri="{FF2B5EF4-FFF2-40B4-BE49-F238E27FC236}">
                <a16:creationId xmlns:a16="http://schemas.microsoft.com/office/drawing/2014/main" id="{0A84832F-D70D-5FFF-E15E-68FE10A3B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0658" y="444241"/>
            <a:ext cx="2664241" cy="6147781"/>
          </a:xfrm>
          <a:prstGeom prst="rect">
            <a:avLst/>
          </a:prstGeom>
        </p:spPr>
      </p:pic>
      <p:graphicFrame>
        <p:nvGraphicFramePr>
          <p:cNvPr id="2" name="Table 6">
            <a:extLst>
              <a:ext uri="{FF2B5EF4-FFF2-40B4-BE49-F238E27FC236}">
                <a16:creationId xmlns:a16="http://schemas.microsoft.com/office/drawing/2014/main" id="{64900DFE-3B39-2AC2-6601-CC4DA2B2F00F}"/>
              </a:ext>
            </a:extLst>
          </p:cNvPr>
          <p:cNvGraphicFramePr>
            <a:graphicFrameLocks noGrp="1"/>
          </p:cNvGraphicFramePr>
          <p:nvPr>
            <p:extLst>
              <p:ext uri="{D42A27DB-BD31-4B8C-83A1-F6EECF244321}">
                <p14:modId xmlns:p14="http://schemas.microsoft.com/office/powerpoint/2010/main" val="4125564328"/>
              </p:ext>
            </p:extLst>
          </p:nvPr>
        </p:nvGraphicFramePr>
        <p:xfrm>
          <a:off x="555607" y="3518131"/>
          <a:ext cx="6376271" cy="2286000"/>
        </p:xfrm>
        <a:graphic>
          <a:graphicData uri="http://schemas.openxmlformats.org/drawingml/2006/table">
            <a:tbl>
              <a:tblPr firstRow="1" bandRow="1">
                <a:tableStyleId>{2D5ABB26-0587-4C30-8999-92F81FD0307C}</a:tableStyleId>
              </a:tblPr>
              <a:tblGrid>
                <a:gridCol w="1857393">
                  <a:extLst>
                    <a:ext uri="{9D8B030D-6E8A-4147-A177-3AD203B41FA5}">
                      <a16:colId xmlns:a16="http://schemas.microsoft.com/office/drawing/2014/main" val="4032481633"/>
                    </a:ext>
                  </a:extLst>
                </a:gridCol>
                <a:gridCol w="4518878">
                  <a:extLst>
                    <a:ext uri="{9D8B030D-6E8A-4147-A177-3AD203B41FA5}">
                      <a16:colId xmlns:a16="http://schemas.microsoft.com/office/drawing/2014/main" val="483078826"/>
                    </a:ext>
                  </a:extLst>
                </a:gridCol>
              </a:tblGrid>
              <a:tr h="353300">
                <a:tc>
                  <a:txBody>
                    <a:bodyPr/>
                    <a:lstStyle/>
                    <a:p>
                      <a:r>
                        <a:rPr lang="en-US" sz="2400" b="0" dirty="0">
                          <a:latin typeface="Raleway" pitchFamily="2" charset="0"/>
                          <a:cs typeface="Arial" panose="020B0604020202020204" pitchFamily="34" charset="0"/>
                        </a:rPr>
                        <a:t>Hospital:</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MEDVAMC</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26078793"/>
                  </a:ext>
                </a:extLst>
              </a:tr>
              <a:tr h="353300">
                <a:tc>
                  <a:txBody>
                    <a:bodyPr/>
                    <a:lstStyle/>
                    <a:p>
                      <a:r>
                        <a:rPr lang="en-US" sz="2400" b="0" dirty="0">
                          <a:latin typeface="Raleway" pitchFamily="2" charset="0"/>
                          <a:cs typeface="Arial" panose="020B0604020202020204" pitchFamily="34" charset="0"/>
                        </a:rPr>
                        <a:t>Date:</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228414925"/>
                  </a:ext>
                </a:extLst>
              </a:tr>
              <a:tr h="353300">
                <a:tc>
                  <a:txBody>
                    <a:bodyPr/>
                    <a:lstStyle/>
                    <a:p>
                      <a:r>
                        <a:rPr lang="en-US" sz="2400" b="0" dirty="0">
                          <a:latin typeface="Raleway" pitchFamily="2" charset="0"/>
                          <a:cs typeface="Arial" panose="020B0604020202020204" pitchFamily="34" charset="0"/>
                        </a:rPr>
                        <a:t>Faculty:</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352118761"/>
                  </a:ext>
                </a:extLst>
              </a:tr>
              <a:tr h="359558">
                <a:tc>
                  <a:txBody>
                    <a:bodyPr/>
                    <a:lstStyle/>
                    <a:p>
                      <a:r>
                        <a:rPr lang="en-US" sz="2400" b="0" dirty="0">
                          <a:latin typeface="Raleway" pitchFamily="2" charset="0"/>
                          <a:cs typeface="Arial" panose="020B0604020202020204" pitchFamily="34" charset="0"/>
                        </a:rPr>
                        <a:t>Trainee:</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0290266"/>
                  </a:ext>
                </a:extLst>
              </a:tr>
              <a:tr h="383043">
                <a:tc>
                  <a:txBody>
                    <a:bodyPr/>
                    <a:lstStyle/>
                    <a:p>
                      <a:r>
                        <a:rPr lang="en-US" sz="2400" b="0" dirty="0">
                          <a:latin typeface="Raleway" pitchFamily="2" charset="0"/>
                          <a:cs typeface="Arial" panose="020B0604020202020204" pitchFamily="34" charset="0"/>
                        </a:rPr>
                        <a:t>Presenter:</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779119747"/>
                  </a:ext>
                </a:extLst>
              </a:tr>
            </a:tbl>
          </a:graphicData>
        </a:graphic>
      </p:graphicFrame>
      <p:sp>
        <p:nvSpPr>
          <p:cNvPr id="3" name="Title 1">
            <a:extLst>
              <a:ext uri="{FF2B5EF4-FFF2-40B4-BE49-F238E27FC236}">
                <a16:creationId xmlns:a16="http://schemas.microsoft.com/office/drawing/2014/main" id="{90D66404-DCBB-EDDC-F27A-C4F04C44B9C9}"/>
              </a:ext>
            </a:extLst>
          </p:cNvPr>
          <p:cNvSpPr>
            <a:spLocks noGrp="1"/>
          </p:cNvSpPr>
          <p:nvPr>
            <p:ph type="title"/>
          </p:nvPr>
        </p:nvSpPr>
        <p:spPr>
          <a:xfrm>
            <a:off x="377688" y="294369"/>
            <a:ext cx="7496312" cy="1971674"/>
          </a:xfrm>
          <a:noFill/>
          <a:ln>
            <a:noFill/>
          </a:ln>
          <a:effectLst>
            <a:outerShdw blurRad="50800" dist="76200" dir="18900000" algn="bl" rotWithShape="0">
              <a:prstClr val="black">
                <a:alpha val="40000"/>
              </a:prstClr>
            </a:outerShdw>
          </a:effectLst>
        </p:spPr>
        <p:txBody>
          <a:bodyPr>
            <a:normAutofit/>
          </a:bodyPr>
          <a:lstStyle/>
          <a:p>
            <a:r>
              <a:rPr lang="en-US" sz="4000" dirty="0">
                <a:solidFill>
                  <a:srgbClr val="FF9933"/>
                </a:solidFill>
                <a:latin typeface="Aptos" panose="020B0004020202020204" pitchFamily="34" charset="0"/>
              </a:rPr>
              <a:t>___(complication[s]) after ____(procedure)</a:t>
            </a:r>
          </a:p>
        </p:txBody>
      </p:sp>
    </p:spTree>
    <p:extLst>
      <p:ext uri="{BB962C8B-B14F-4D97-AF65-F5344CB8AC3E}">
        <p14:creationId xmlns:p14="http://schemas.microsoft.com/office/powerpoint/2010/main" val="1259118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6E079-FA05-E39A-FA74-B8504B57048A}"/>
              </a:ext>
            </a:extLst>
          </p:cNvPr>
          <p:cNvSpPr>
            <a:spLocks noGrp="1"/>
          </p:cNvSpPr>
          <p:nvPr>
            <p:ph type="title"/>
          </p:nvPr>
        </p:nvSpPr>
        <p:spPr>
          <a:xfrm>
            <a:off x="185057" y="119856"/>
            <a:ext cx="10515600" cy="954202"/>
          </a:xfrm>
        </p:spPr>
        <p:txBody>
          <a:bodyPr>
            <a:normAutofit/>
          </a:bodyPr>
          <a:lstStyle/>
          <a:p>
            <a:r>
              <a:rPr lang="en-US" sz="4000" dirty="0">
                <a:solidFill>
                  <a:schemeClr val="bg1">
                    <a:lumMod val="65000"/>
                  </a:schemeClr>
                </a:solidFill>
                <a:latin typeface="Georgia" panose="02040502050405020303" pitchFamily="18" charset="0"/>
              </a:rPr>
              <a:t>1. </a:t>
            </a:r>
            <a:r>
              <a:rPr lang="en-US" sz="4800" dirty="0">
                <a:solidFill>
                  <a:schemeClr val="bg1">
                    <a:lumMod val="65000"/>
                  </a:schemeClr>
                </a:solidFill>
                <a:latin typeface="Georgia" panose="02040502050405020303" pitchFamily="18" charset="0"/>
              </a:rPr>
              <a:t>Situation | History</a:t>
            </a:r>
            <a:endParaRPr lang="en-US" sz="4000" dirty="0">
              <a:solidFill>
                <a:schemeClr val="bg1">
                  <a:lumMod val="65000"/>
                </a:schemeClr>
              </a:solidFill>
              <a:latin typeface="Georgia" panose="02040502050405020303" pitchFamily="18" charset="0"/>
            </a:endParaRPr>
          </a:p>
        </p:txBody>
      </p:sp>
      <p:sp>
        <p:nvSpPr>
          <p:cNvPr id="3" name="Content Placeholder 2">
            <a:extLst>
              <a:ext uri="{FF2B5EF4-FFF2-40B4-BE49-F238E27FC236}">
                <a16:creationId xmlns:a16="http://schemas.microsoft.com/office/drawing/2014/main" id="{4C7E666C-BBD5-7BD8-6EDB-77D125A14F3C}"/>
              </a:ext>
            </a:extLst>
          </p:cNvPr>
          <p:cNvSpPr>
            <a:spLocks noGrp="1"/>
          </p:cNvSpPr>
          <p:nvPr>
            <p:ph idx="1"/>
          </p:nvPr>
        </p:nvSpPr>
        <p:spPr>
          <a:xfrm>
            <a:off x="518886" y="1419225"/>
            <a:ext cx="10515600" cy="4351338"/>
          </a:xfrm>
        </p:spPr>
        <p:txBody>
          <a:bodyPr>
            <a:normAutofit/>
          </a:bodyPr>
          <a:lstStyle/>
          <a:p>
            <a:r>
              <a:rPr lang="en-US" dirty="0">
                <a:solidFill>
                  <a:schemeClr val="bg1">
                    <a:lumMod val="85000"/>
                  </a:schemeClr>
                </a:solidFill>
              </a:rPr>
              <a:t>Selected &amp; important </a:t>
            </a:r>
            <a:r>
              <a:rPr lang="en-US" i="1" dirty="0">
                <a:solidFill>
                  <a:schemeClr val="bg1">
                    <a:lumMod val="85000"/>
                  </a:schemeClr>
                </a:solidFill>
              </a:rPr>
              <a:t>phrases</a:t>
            </a:r>
            <a:r>
              <a:rPr lang="en-US" dirty="0">
                <a:solidFill>
                  <a:schemeClr val="bg1">
                    <a:lumMod val="85000"/>
                  </a:schemeClr>
                </a:solidFill>
              </a:rPr>
              <a:t> for HPI</a:t>
            </a:r>
          </a:p>
          <a:p>
            <a:r>
              <a:rPr lang="en-US" i="1" dirty="0">
                <a:solidFill>
                  <a:schemeClr val="bg1">
                    <a:lumMod val="85000"/>
                  </a:schemeClr>
                </a:solidFill>
              </a:rPr>
              <a:t>Relevant </a:t>
            </a:r>
            <a:r>
              <a:rPr lang="en-US" dirty="0">
                <a:solidFill>
                  <a:schemeClr val="bg1">
                    <a:lumMod val="85000"/>
                  </a:schemeClr>
                </a:solidFill>
              </a:rPr>
              <a:t>history</a:t>
            </a:r>
          </a:p>
          <a:p>
            <a:r>
              <a:rPr lang="en-US" i="1" dirty="0">
                <a:solidFill>
                  <a:schemeClr val="bg1">
                    <a:lumMod val="85000"/>
                  </a:schemeClr>
                </a:solidFill>
              </a:rPr>
              <a:t>Relevant</a:t>
            </a:r>
            <a:r>
              <a:rPr lang="en-US" dirty="0">
                <a:solidFill>
                  <a:schemeClr val="bg1">
                    <a:lumMod val="85000"/>
                  </a:schemeClr>
                </a:solidFill>
              </a:rPr>
              <a:t> Labs/imaging studies</a:t>
            </a:r>
          </a:p>
          <a:p>
            <a:r>
              <a:rPr lang="en-US" dirty="0">
                <a:solidFill>
                  <a:schemeClr val="bg1">
                    <a:lumMod val="85000"/>
                  </a:schemeClr>
                </a:solidFill>
              </a:rPr>
              <a:t>Indication for initial intervention (if there was one):</a:t>
            </a:r>
          </a:p>
          <a:p>
            <a:endParaRPr lang="en-US" dirty="0">
              <a:solidFill>
                <a:schemeClr val="bg1">
                  <a:lumMod val="85000"/>
                </a:schemeClr>
              </a:solidFill>
            </a:endParaRPr>
          </a:p>
          <a:p>
            <a:pPr marL="0" indent="0">
              <a:buNone/>
            </a:pPr>
            <a:r>
              <a:rPr lang="en-US" sz="4000" b="1" u="sng" dirty="0">
                <a:solidFill>
                  <a:schemeClr val="bg1">
                    <a:lumMod val="85000"/>
                  </a:schemeClr>
                </a:solidFill>
              </a:rPr>
              <a:t>18 total word maximum limit</a:t>
            </a:r>
          </a:p>
        </p:txBody>
      </p:sp>
    </p:spTree>
    <p:extLst>
      <p:ext uri="{BB962C8B-B14F-4D97-AF65-F5344CB8AC3E}">
        <p14:creationId xmlns:p14="http://schemas.microsoft.com/office/powerpoint/2010/main" val="921827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6C72-1DF1-5846-3957-9D6B623ECC46}"/>
              </a:ext>
            </a:extLst>
          </p:cNvPr>
          <p:cNvSpPr>
            <a:spLocks noGrp="1"/>
          </p:cNvSpPr>
          <p:nvPr>
            <p:ph type="title"/>
          </p:nvPr>
        </p:nvSpPr>
        <p:spPr>
          <a:xfrm>
            <a:off x="185057" y="119856"/>
            <a:ext cx="10515600" cy="954202"/>
          </a:xfrm>
        </p:spPr>
        <p:txBody>
          <a:bodyPr>
            <a:normAutofit/>
          </a:bodyPr>
          <a:lstStyle/>
          <a:p>
            <a:r>
              <a:rPr lang="en-US" sz="4000" dirty="0">
                <a:solidFill>
                  <a:schemeClr val="bg1">
                    <a:lumMod val="95000"/>
                  </a:schemeClr>
                </a:solidFill>
                <a:latin typeface="Georgia" panose="02040502050405020303" pitchFamily="18" charset="0"/>
              </a:rPr>
              <a:t>1. </a:t>
            </a:r>
            <a:r>
              <a:rPr lang="en-US" sz="4800" dirty="0">
                <a:solidFill>
                  <a:schemeClr val="bg1">
                    <a:lumMod val="95000"/>
                  </a:schemeClr>
                </a:solidFill>
                <a:latin typeface="Georgia" panose="02040502050405020303" pitchFamily="18" charset="0"/>
              </a:rPr>
              <a:t>Situation | Relevant Imaging</a:t>
            </a:r>
            <a:endParaRPr lang="en-US" sz="4000" dirty="0">
              <a:solidFill>
                <a:schemeClr val="bg1">
                  <a:lumMod val="95000"/>
                </a:schemeClr>
              </a:solidFill>
              <a:latin typeface="Georgia" panose="02040502050405020303" pitchFamily="18" charset="0"/>
            </a:endParaRPr>
          </a:p>
        </p:txBody>
      </p:sp>
    </p:spTree>
    <p:extLst>
      <p:ext uri="{BB962C8B-B14F-4D97-AF65-F5344CB8AC3E}">
        <p14:creationId xmlns:p14="http://schemas.microsoft.com/office/powerpoint/2010/main" val="1440871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 name="Arrow: Right 1">
            <a:extLst>
              <a:ext uri="{FF2B5EF4-FFF2-40B4-BE49-F238E27FC236}">
                <a16:creationId xmlns:a16="http://schemas.microsoft.com/office/drawing/2014/main" id="{13B9357C-3BFF-FCEE-CA2F-D7FD666EE045}"/>
              </a:ext>
            </a:extLst>
          </p:cNvPr>
          <p:cNvSpPr/>
          <p:nvPr/>
        </p:nvSpPr>
        <p:spPr>
          <a:xfrm>
            <a:off x="464456" y="3066143"/>
            <a:ext cx="11243839" cy="725714"/>
          </a:xfrm>
          <a:prstGeom prst="rightArrow">
            <a:avLst/>
          </a:prstGeom>
          <a:gradFill flip="none" rotWithShape="1">
            <a:gsLst>
              <a:gs pos="59000">
                <a:srgbClr val="C00000"/>
              </a:gs>
              <a:gs pos="36000">
                <a:srgbClr val="FFC000"/>
              </a:gs>
              <a:gs pos="25000">
                <a:schemeClr val="accent6">
                  <a:lumMod val="75000"/>
                </a:schemeClr>
              </a:gs>
              <a:gs pos="61000">
                <a:schemeClr val="accent6">
                  <a:lumMod val="60000"/>
                  <a:lumOff val="40000"/>
                </a:schemeClr>
              </a:gs>
              <a:gs pos="99000">
                <a:schemeClr val="accent6">
                  <a:lumMod val="20000"/>
                  <a:lumOff val="80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70C7D436-30F6-5F22-D4AF-EB37C4770545}"/>
              </a:ext>
            </a:extLst>
          </p:cNvPr>
          <p:cNvSpPr>
            <a:spLocks noGrp="1"/>
          </p:cNvSpPr>
          <p:nvPr>
            <p:ph type="title"/>
          </p:nvPr>
        </p:nvSpPr>
        <p:spPr>
          <a:xfrm>
            <a:off x="185057" y="119856"/>
            <a:ext cx="10515600" cy="954202"/>
          </a:xfrm>
        </p:spPr>
        <p:txBody>
          <a:bodyPr>
            <a:normAutofit/>
          </a:bodyPr>
          <a:lstStyle/>
          <a:p>
            <a:r>
              <a:rPr lang="en-US" sz="4000" dirty="0">
                <a:solidFill>
                  <a:schemeClr val="bg1">
                    <a:lumMod val="65000"/>
                  </a:schemeClr>
                </a:solidFill>
                <a:latin typeface="Georgia" panose="02040502050405020303" pitchFamily="18" charset="0"/>
              </a:rPr>
              <a:t>2. </a:t>
            </a:r>
            <a:r>
              <a:rPr lang="en-US" sz="4800" dirty="0">
                <a:solidFill>
                  <a:schemeClr val="bg1">
                    <a:lumMod val="65000"/>
                  </a:schemeClr>
                </a:solidFill>
                <a:latin typeface="Georgia" panose="02040502050405020303" pitchFamily="18" charset="0"/>
              </a:rPr>
              <a:t>Event Timeline</a:t>
            </a:r>
            <a:endParaRPr lang="en-US" sz="4000" dirty="0">
              <a:solidFill>
                <a:schemeClr val="bg1">
                  <a:lumMod val="65000"/>
                </a:schemeClr>
              </a:solidFill>
              <a:latin typeface="Georgia" panose="02040502050405020303" pitchFamily="18" charset="0"/>
            </a:endParaRPr>
          </a:p>
        </p:txBody>
      </p:sp>
      <p:sp>
        <p:nvSpPr>
          <p:cNvPr id="4" name="TextBox 3">
            <a:extLst>
              <a:ext uri="{FF2B5EF4-FFF2-40B4-BE49-F238E27FC236}">
                <a16:creationId xmlns:a16="http://schemas.microsoft.com/office/drawing/2014/main" id="{E180BAC6-6072-B802-146A-2A2636C9051C}"/>
              </a:ext>
            </a:extLst>
          </p:cNvPr>
          <p:cNvSpPr txBox="1"/>
          <p:nvPr/>
        </p:nvSpPr>
        <p:spPr>
          <a:xfrm>
            <a:off x="464456" y="1719927"/>
            <a:ext cx="1930400" cy="338554"/>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POD -2: admission</a:t>
            </a:r>
          </a:p>
        </p:txBody>
      </p:sp>
      <p:cxnSp>
        <p:nvCxnSpPr>
          <p:cNvPr id="5" name="Straight Connector 4">
            <a:extLst>
              <a:ext uri="{FF2B5EF4-FFF2-40B4-BE49-F238E27FC236}">
                <a16:creationId xmlns:a16="http://schemas.microsoft.com/office/drawing/2014/main" id="{DC219E5C-853C-F9B1-4A4A-893179F73E33}"/>
              </a:ext>
            </a:extLst>
          </p:cNvPr>
          <p:cNvCxnSpPr>
            <a:endCxn id="4" idx="1"/>
          </p:cNvCxnSpPr>
          <p:nvPr/>
        </p:nvCxnSpPr>
        <p:spPr>
          <a:xfrm flipV="1">
            <a:off x="464455" y="1889204"/>
            <a:ext cx="1" cy="175315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5107A44-EF68-D5BF-CDED-A78FB9F475AB}"/>
              </a:ext>
            </a:extLst>
          </p:cNvPr>
          <p:cNvSpPr txBox="1"/>
          <p:nvPr/>
        </p:nvSpPr>
        <p:spPr>
          <a:xfrm>
            <a:off x="1297015" y="2084962"/>
            <a:ext cx="1930400" cy="338554"/>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POD 0: operation</a:t>
            </a:r>
          </a:p>
        </p:txBody>
      </p:sp>
      <p:cxnSp>
        <p:nvCxnSpPr>
          <p:cNvPr id="7" name="Straight Connector 6">
            <a:extLst>
              <a:ext uri="{FF2B5EF4-FFF2-40B4-BE49-F238E27FC236}">
                <a16:creationId xmlns:a16="http://schemas.microsoft.com/office/drawing/2014/main" id="{6CF87F78-4773-2CB7-7068-1E2CEEDB1ABF}"/>
              </a:ext>
            </a:extLst>
          </p:cNvPr>
          <p:cNvCxnSpPr>
            <a:cxnSpLocks/>
            <a:endCxn id="6" idx="1"/>
          </p:cNvCxnSpPr>
          <p:nvPr/>
        </p:nvCxnSpPr>
        <p:spPr>
          <a:xfrm flipV="1">
            <a:off x="1297015" y="2254239"/>
            <a:ext cx="0" cy="138812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06B45DF-D940-0FD2-5B5C-F080CAA0283B}"/>
              </a:ext>
            </a:extLst>
          </p:cNvPr>
          <p:cNvSpPr txBox="1"/>
          <p:nvPr/>
        </p:nvSpPr>
        <p:spPr>
          <a:xfrm>
            <a:off x="1845934" y="4799519"/>
            <a:ext cx="2290635" cy="338554"/>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POD 1: transfer to ICU</a:t>
            </a:r>
          </a:p>
        </p:txBody>
      </p:sp>
      <p:cxnSp>
        <p:nvCxnSpPr>
          <p:cNvPr id="9" name="Straight Connector 8">
            <a:extLst>
              <a:ext uri="{FF2B5EF4-FFF2-40B4-BE49-F238E27FC236}">
                <a16:creationId xmlns:a16="http://schemas.microsoft.com/office/drawing/2014/main" id="{B579B87D-E3E7-5551-E567-AF994DECAE1C}"/>
              </a:ext>
            </a:extLst>
          </p:cNvPr>
          <p:cNvCxnSpPr>
            <a:cxnSpLocks/>
          </p:cNvCxnSpPr>
          <p:nvPr/>
        </p:nvCxnSpPr>
        <p:spPr>
          <a:xfrm flipV="1">
            <a:off x="1845935" y="3239945"/>
            <a:ext cx="1" cy="175315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093F80F-63AC-4080-2A44-0908ABB16305}"/>
              </a:ext>
            </a:extLst>
          </p:cNvPr>
          <p:cNvSpPr txBox="1"/>
          <p:nvPr/>
        </p:nvSpPr>
        <p:spPr>
          <a:xfrm>
            <a:off x="5476287" y="1666222"/>
            <a:ext cx="1930400" cy="338554"/>
          </a:xfrm>
          <a:prstGeom prst="rect">
            <a:avLst/>
          </a:prstGeom>
          <a:noFill/>
        </p:spPr>
        <p:txBody>
          <a:bodyPr wrap="square" rtlCol="0">
            <a:spAutoFit/>
          </a:bodyPr>
          <a:lstStyle/>
          <a:p>
            <a:r>
              <a:rPr lang="en-US" sz="1600" dirty="0">
                <a:solidFill>
                  <a:srgbClr val="FF6D6D"/>
                </a:solidFill>
                <a:latin typeface="Arial" panose="020B0604020202020204" pitchFamily="34" charset="0"/>
                <a:cs typeface="Arial" panose="020B0604020202020204" pitchFamily="34" charset="0"/>
              </a:rPr>
              <a:t>POD 7: recognition</a:t>
            </a:r>
          </a:p>
        </p:txBody>
      </p:sp>
      <p:cxnSp>
        <p:nvCxnSpPr>
          <p:cNvPr id="11" name="Straight Connector 10">
            <a:extLst>
              <a:ext uri="{FF2B5EF4-FFF2-40B4-BE49-F238E27FC236}">
                <a16:creationId xmlns:a16="http://schemas.microsoft.com/office/drawing/2014/main" id="{9E621314-7C53-4BA3-E535-9E6B018586FC}"/>
              </a:ext>
            </a:extLst>
          </p:cNvPr>
          <p:cNvCxnSpPr>
            <a:endCxn id="10" idx="1"/>
          </p:cNvCxnSpPr>
          <p:nvPr/>
        </p:nvCxnSpPr>
        <p:spPr>
          <a:xfrm flipV="1">
            <a:off x="5476286" y="1835499"/>
            <a:ext cx="1" cy="175315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ADA4C52-91DE-76B1-63BB-FF9E6103A8B2}"/>
              </a:ext>
            </a:extLst>
          </p:cNvPr>
          <p:cNvSpPr txBox="1"/>
          <p:nvPr/>
        </p:nvSpPr>
        <p:spPr>
          <a:xfrm>
            <a:off x="9316158" y="1719927"/>
            <a:ext cx="1930400" cy="584775"/>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POD 10: reoperation, etc.</a:t>
            </a:r>
          </a:p>
        </p:txBody>
      </p:sp>
      <p:cxnSp>
        <p:nvCxnSpPr>
          <p:cNvPr id="13" name="Straight Connector 12">
            <a:extLst>
              <a:ext uri="{FF2B5EF4-FFF2-40B4-BE49-F238E27FC236}">
                <a16:creationId xmlns:a16="http://schemas.microsoft.com/office/drawing/2014/main" id="{8B030CD1-33D2-C67C-93EE-4C3258A406B1}"/>
              </a:ext>
            </a:extLst>
          </p:cNvPr>
          <p:cNvCxnSpPr>
            <a:endCxn id="12" idx="1"/>
          </p:cNvCxnSpPr>
          <p:nvPr/>
        </p:nvCxnSpPr>
        <p:spPr>
          <a:xfrm flipV="1">
            <a:off x="9316157" y="2012315"/>
            <a:ext cx="1" cy="163004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644FFED-8A7E-BF29-8804-A73E20566E9C}"/>
              </a:ext>
            </a:extLst>
          </p:cNvPr>
          <p:cNvSpPr txBox="1"/>
          <p:nvPr/>
        </p:nvSpPr>
        <p:spPr>
          <a:xfrm>
            <a:off x="2924174" y="2621897"/>
            <a:ext cx="2796461" cy="338554"/>
          </a:xfrm>
          <a:prstGeom prst="rect">
            <a:avLst/>
          </a:prstGeom>
          <a:noFill/>
        </p:spPr>
        <p:txBody>
          <a:bodyPr wrap="square" rtlCol="0">
            <a:spAutoFit/>
          </a:bodyPr>
          <a:lstStyle/>
          <a:p>
            <a:r>
              <a:rPr lang="en-US" sz="1600" dirty="0">
                <a:solidFill>
                  <a:schemeClr val="bg1">
                    <a:lumMod val="75000"/>
                  </a:schemeClr>
                </a:solidFill>
                <a:latin typeface="Arial" panose="020B0604020202020204" pitchFamily="34" charset="0"/>
                <a:cs typeface="Arial" panose="020B0604020202020204" pitchFamily="34" charset="0"/>
              </a:rPr>
              <a:t>POD 3: transfer to ward</a:t>
            </a:r>
          </a:p>
        </p:txBody>
      </p:sp>
      <p:cxnSp>
        <p:nvCxnSpPr>
          <p:cNvPr id="15" name="Straight Connector 14">
            <a:extLst>
              <a:ext uri="{FF2B5EF4-FFF2-40B4-BE49-F238E27FC236}">
                <a16:creationId xmlns:a16="http://schemas.microsoft.com/office/drawing/2014/main" id="{F7E838AD-8ED7-6E20-A269-0FED5F324225}"/>
              </a:ext>
            </a:extLst>
          </p:cNvPr>
          <p:cNvCxnSpPr>
            <a:cxnSpLocks/>
          </p:cNvCxnSpPr>
          <p:nvPr/>
        </p:nvCxnSpPr>
        <p:spPr>
          <a:xfrm flipV="1">
            <a:off x="2972407" y="2724150"/>
            <a:ext cx="0" cy="8778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F849684-BCD4-E82E-8CD1-CDF941F84E6F}"/>
              </a:ext>
            </a:extLst>
          </p:cNvPr>
          <p:cNvSpPr txBox="1"/>
          <p:nvPr/>
        </p:nvSpPr>
        <p:spPr>
          <a:xfrm>
            <a:off x="4477621" y="4705148"/>
            <a:ext cx="2604211" cy="584775"/>
          </a:xfrm>
          <a:prstGeom prst="rect">
            <a:avLst/>
          </a:prstGeom>
          <a:noFill/>
        </p:spPr>
        <p:txBody>
          <a:bodyPr wrap="square" rtlCol="0">
            <a:spAutoFit/>
          </a:bodyPr>
          <a:lstStyle/>
          <a:p>
            <a:r>
              <a:rPr lang="en-US" sz="1600" dirty="0">
                <a:solidFill>
                  <a:srgbClr val="FFC000"/>
                </a:solidFill>
                <a:latin typeface="Arial" panose="020B0604020202020204" pitchFamily="34" charset="0"/>
                <a:cs typeface="Arial" panose="020B0604020202020204" pitchFamily="34" charset="0"/>
              </a:rPr>
              <a:t>POD 6: estimated onset of complication</a:t>
            </a:r>
          </a:p>
        </p:txBody>
      </p:sp>
      <p:cxnSp>
        <p:nvCxnSpPr>
          <p:cNvPr id="17" name="Straight Connector 16">
            <a:extLst>
              <a:ext uri="{FF2B5EF4-FFF2-40B4-BE49-F238E27FC236}">
                <a16:creationId xmlns:a16="http://schemas.microsoft.com/office/drawing/2014/main" id="{44CA032A-DEAE-F677-7779-34FD1CAB55E9}"/>
              </a:ext>
            </a:extLst>
          </p:cNvPr>
          <p:cNvCxnSpPr>
            <a:cxnSpLocks/>
          </p:cNvCxnSpPr>
          <p:nvPr/>
        </p:nvCxnSpPr>
        <p:spPr>
          <a:xfrm flipV="1">
            <a:off x="4477622" y="3268685"/>
            <a:ext cx="0" cy="1698812"/>
          </a:xfrm>
          <a:prstGeom prst="line">
            <a:avLst/>
          </a:prstGeom>
          <a:ln w="19050">
            <a:solidFill>
              <a:srgbClr val="FFC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491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980D-636B-5300-5528-0F4137DA49A4}"/>
              </a:ext>
            </a:extLst>
          </p:cNvPr>
          <p:cNvSpPr txBox="1">
            <a:spLocks/>
          </p:cNvSpPr>
          <p:nvPr/>
        </p:nvSpPr>
        <p:spPr>
          <a:xfrm>
            <a:off x="138358" y="275684"/>
            <a:ext cx="4168283" cy="1001573"/>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bg1">
                    <a:lumMod val="65000"/>
                  </a:schemeClr>
                </a:solidFill>
                <a:effectLst/>
                <a:uLnTx/>
                <a:uFillTx/>
                <a:latin typeface="Georgia" panose="02040502050405020303" pitchFamily="18" charset="0"/>
                <a:ea typeface="+mj-ea"/>
                <a:cs typeface="+mj-cs"/>
              </a:rPr>
              <a:t>3. Analysis</a:t>
            </a:r>
            <a:br>
              <a:rPr kumimoji="0" lang="en-US" sz="4400" b="0" i="0" u="none" strike="noStrike" kern="1200" cap="none" spc="0" normalizeH="0" baseline="0" noProof="0" dirty="0">
                <a:ln>
                  <a:noFill/>
                </a:ln>
                <a:solidFill>
                  <a:srgbClr val="002060"/>
                </a:solidFill>
                <a:effectLst/>
                <a:uLnTx/>
                <a:uFillTx/>
                <a:latin typeface="Georgia" panose="02040502050405020303" pitchFamily="18" charset="0"/>
                <a:ea typeface="+mj-ea"/>
                <a:cs typeface="+mj-cs"/>
              </a:rPr>
            </a:br>
            <a:endParaRPr kumimoji="0" lang="en-US" sz="4000" b="0" i="0" u="none" strike="noStrike" kern="1200" cap="none" spc="0" normalizeH="0" baseline="0" noProof="0" dirty="0">
              <a:ln>
                <a:noFill/>
              </a:ln>
              <a:solidFill>
                <a:srgbClr val="002060"/>
              </a:solidFill>
              <a:effectLst/>
              <a:uLnTx/>
              <a:uFillTx/>
              <a:latin typeface="Georgia" panose="02040502050405020303" pitchFamily="18" charset="0"/>
              <a:ea typeface="+mj-ea"/>
              <a:cs typeface="+mj-cs"/>
            </a:endParaRPr>
          </a:p>
        </p:txBody>
      </p:sp>
      <p:graphicFrame>
        <p:nvGraphicFramePr>
          <p:cNvPr id="3" name="Table 2">
            <a:extLst>
              <a:ext uri="{FF2B5EF4-FFF2-40B4-BE49-F238E27FC236}">
                <a16:creationId xmlns:a16="http://schemas.microsoft.com/office/drawing/2014/main" id="{B5D934B3-F260-6D02-19AF-B2DCC559B472}"/>
              </a:ext>
            </a:extLst>
          </p:cNvPr>
          <p:cNvGraphicFramePr>
            <a:graphicFrameLocks noGrp="1"/>
          </p:cNvGraphicFramePr>
          <p:nvPr>
            <p:extLst>
              <p:ext uri="{D42A27DB-BD31-4B8C-83A1-F6EECF244321}">
                <p14:modId xmlns:p14="http://schemas.microsoft.com/office/powerpoint/2010/main" val="1801218408"/>
              </p:ext>
            </p:extLst>
          </p:nvPr>
        </p:nvGraphicFramePr>
        <p:xfrm>
          <a:off x="807984" y="1277257"/>
          <a:ext cx="10576032" cy="4630042"/>
        </p:xfrm>
        <a:graphic>
          <a:graphicData uri="http://schemas.openxmlformats.org/drawingml/2006/table">
            <a:tbl>
              <a:tblPr firstRow="1" bandRow="1">
                <a:tableStyleId>{F5AB1C69-6EDB-4FF4-983F-18BD219EF322}</a:tableStyleId>
              </a:tblPr>
              <a:tblGrid>
                <a:gridCol w="3563991">
                  <a:extLst>
                    <a:ext uri="{9D8B030D-6E8A-4147-A177-3AD203B41FA5}">
                      <a16:colId xmlns:a16="http://schemas.microsoft.com/office/drawing/2014/main" val="968164893"/>
                    </a:ext>
                  </a:extLst>
                </a:gridCol>
                <a:gridCol w="7012041">
                  <a:extLst>
                    <a:ext uri="{9D8B030D-6E8A-4147-A177-3AD203B41FA5}">
                      <a16:colId xmlns:a16="http://schemas.microsoft.com/office/drawing/2014/main" val="834804631"/>
                    </a:ext>
                  </a:extLst>
                </a:gridCol>
              </a:tblGrid>
              <a:tr h="577661">
                <a:tc>
                  <a:txBody>
                    <a:bodyPr/>
                    <a:lstStyle/>
                    <a:p>
                      <a:r>
                        <a:rPr lang="en-US" sz="1800" b="1" dirty="0">
                          <a:solidFill>
                            <a:srgbClr val="FFC000"/>
                          </a:solidFill>
                          <a:latin typeface="Aptos" panose="020B0004020202020204" pitchFamily="34" charset="0"/>
                        </a:rPr>
                        <a:t>Severity</a:t>
                      </a:r>
                      <a:r>
                        <a:rPr lang="en-US" sz="1800" b="0" dirty="0">
                          <a:solidFill>
                            <a:srgbClr val="FFC000"/>
                          </a:solidFill>
                          <a:latin typeface="Aptos" panose="020B0004020202020204" pitchFamily="34" charset="0"/>
                        </a:rPr>
                        <a:t>, </a:t>
                      </a:r>
                      <a:r>
                        <a:rPr lang="en-US" sz="1800" b="0" dirty="0" err="1">
                          <a:solidFill>
                            <a:srgbClr val="FFC000"/>
                          </a:solidFill>
                          <a:latin typeface="Aptos" panose="020B0004020202020204" pitchFamily="34" charset="0"/>
                        </a:rPr>
                        <a:t>Clavien-Dindo</a:t>
                      </a:r>
                      <a:r>
                        <a:rPr lang="en-US" sz="1800" b="0" dirty="0">
                          <a:solidFill>
                            <a:srgbClr val="FFC000"/>
                          </a:solidFill>
                          <a:latin typeface="Aptos" panose="020B0004020202020204" pitchFamily="34" charset="0"/>
                        </a:rPr>
                        <a:t>:</a:t>
                      </a:r>
                    </a:p>
                  </a:txBody>
                  <a:tcPr>
                    <a:lnL w="9525" cap="flat" cmpd="sng" algn="ctr">
                      <a:solidFill>
                        <a:srgbClr val="FF9933"/>
                      </a:solidFill>
                      <a:prstDash val="solid"/>
                      <a:round/>
                      <a:headEnd type="none" w="med" len="med"/>
                      <a:tailEnd type="none" w="med" len="med"/>
                    </a:lnL>
                    <a:lnR w="28575" cap="flat" cmpd="sng" algn="ctr">
                      <a:noFill/>
                      <a:prstDash val="solid"/>
                      <a:round/>
                      <a:headEnd type="none" w="med" len="med"/>
                      <a:tailEnd type="none" w="med" len="med"/>
                    </a:lnR>
                    <a:lnT w="9525" cap="flat" cmpd="sng" algn="ctr">
                      <a:solidFill>
                        <a:srgbClr val="FF9933"/>
                      </a:solidFill>
                      <a:prstDash val="solid"/>
                      <a:round/>
                      <a:headEnd type="none" w="med" len="med"/>
                      <a:tailEnd type="none" w="med" len="med"/>
                    </a:lnT>
                    <a:lnB w="9525" cap="flat" cmpd="sng" algn="ctr">
                      <a:solidFill>
                        <a:srgbClr val="FF9933"/>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lang="en-US" sz="1800" b="0" dirty="0">
                          <a:solidFill>
                            <a:srgbClr val="FFFF00"/>
                          </a:solidFill>
                          <a:latin typeface="Aptos" panose="020B0004020202020204" pitchFamily="34" charset="0"/>
                        </a:rPr>
                        <a:t>1: deviation from normal post-operative course without need for medication or other intervention</a:t>
                      </a:r>
                    </a:p>
                  </a:txBody>
                  <a:tcPr>
                    <a:lnL w="28575" cap="flat" cmpd="sng" algn="ctr">
                      <a:noFill/>
                      <a:prstDash val="solid"/>
                      <a:round/>
                      <a:headEnd type="none" w="med" len="med"/>
                      <a:tailEnd type="none" w="med" len="med"/>
                    </a:lnL>
                    <a:lnR w="9525" cap="flat" cmpd="sng" algn="ctr">
                      <a:solidFill>
                        <a:srgbClr val="FF9933"/>
                      </a:solidFill>
                      <a:prstDash val="solid"/>
                      <a:round/>
                      <a:headEnd type="none" w="med" len="med"/>
                      <a:tailEnd type="none" w="med" len="med"/>
                    </a:lnR>
                    <a:lnT w="9525" cap="flat" cmpd="sng" algn="ctr">
                      <a:solidFill>
                        <a:srgbClr val="FF9933"/>
                      </a:solidFill>
                      <a:prstDash val="solid"/>
                      <a:round/>
                      <a:headEnd type="none" w="med" len="med"/>
                      <a:tailEnd type="none" w="med" len="med"/>
                    </a:lnT>
                    <a:lnB w="9525" cap="flat" cmpd="sng" algn="ctr">
                      <a:solidFill>
                        <a:srgbClr val="FF9933"/>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620850022"/>
                  </a:ext>
                </a:extLst>
              </a:tr>
              <a:tr h="577661">
                <a:tc>
                  <a:txBody>
                    <a:bodyPr/>
                    <a:lstStyle/>
                    <a:p>
                      <a:r>
                        <a:rPr lang="en-US" sz="1800" dirty="0">
                          <a:solidFill>
                            <a:schemeClr val="bg1">
                              <a:lumMod val="65000"/>
                            </a:schemeClr>
                          </a:solidFill>
                          <a:latin typeface="Aptos" panose="020B0004020202020204" pitchFamily="34" charset="0"/>
                        </a:rPr>
                        <a:t>Contributing factors, patient:</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rgbClr val="FF9933"/>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err="1">
                          <a:solidFill>
                            <a:schemeClr val="bg1">
                              <a:lumMod val="95000"/>
                            </a:schemeClr>
                          </a:solidFill>
                          <a:latin typeface="Raleway" pitchFamily="2" charset="0"/>
                        </a:rPr>
                        <a:t>comorbidityA</a:t>
                      </a:r>
                      <a:r>
                        <a:rPr lang="en-US" sz="1800" dirty="0">
                          <a:solidFill>
                            <a:schemeClr val="bg1">
                              <a:lumMod val="95000"/>
                            </a:schemeClr>
                          </a:solidFill>
                          <a:latin typeface="Raleway" pitchFamily="2" charset="0"/>
                        </a:rPr>
                        <a:t>, </a:t>
                      </a:r>
                      <a:r>
                        <a:rPr lang="en-US" sz="1800" dirty="0" err="1">
                          <a:solidFill>
                            <a:schemeClr val="bg1">
                              <a:lumMod val="95000"/>
                            </a:schemeClr>
                          </a:solidFill>
                          <a:latin typeface="Raleway" pitchFamily="2" charset="0"/>
                        </a:rPr>
                        <a:t>comorbidityA</a:t>
                      </a:r>
                      <a:r>
                        <a:rPr lang="en-US" sz="1800" dirty="0">
                          <a:solidFill>
                            <a:schemeClr val="bg1">
                              <a:lumMod val="95000"/>
                            </a:schemeClr>
                          </a:solidFill>
                          <a:latin typeface="Raleway" pitchFamily="2" charset="0"/>
                        </a:rPr>
                        <a:t>, anatomic </a:t>
                      </a:r>
                      <a:r>
                        <a:rPr lang="en-US" sz="1800" dirty="0" err="1">
                          <a:solidFill>
                            <a:schemeClr val="bg1">
                              <a:lumMod val="95000"/>
                            </a:schemeClr>
                          </a:solidFill>
                          <a:latin typeface="Raleway" pitchFamily="2" charset="0"/>
                        </a:rPr>
                        <a:t>variantZ</a:t>
                      </a:r>
                      <a:r>
                        <a:rPr lang="en-US" sz="1800" dirty="0">
                          <a:solidFill>
                            <a:schemeClr val="bg1">
                              <a:lumMod val="95000"/>
                            </a:schemeClr>
                          </a:solidFill>
                          <a:latin typeface="Raleway" pitchFamily="2" charset="0"/>
                        </a:rPr>
                        <a:t>, etc.</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9525" cap="flat" cmpd="sng" algn="ctr">
                      <a:solidFill>
                        <a:srgbClr val="FF9933"/>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4447096"/>
                  </a:ext>
                </a:extLst>
              </a:tr>
              <a:tr h="577661">
                <a:tc>
                  <a:txBody>
                    <a:bodyPr/>
                    <a:lstStyle/>
                    <a:p>
                      <a:r>
                        <a:rPr lang="en-US" sz="1800" dirty="0">
                          <a:solidFill>
                            <a:schemeClr val="bg1">
                              <a:lumMod val="65000"/>
                            </a:schemeClr>
                          </a:solidFill>
                          <a:latin typeface="Aptos" panose="020B0004020202020204" pitchFamily="34" charset="0"/>
                        </a:rPr>
                        <a:t>Contributing factors, non-patient:</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solidFill>
                            <a:schemeClr val="bg1">
                              <a:lumMod val="95000"/>
                            </a:schemeClr>
                          </a:solidFill>
                          <a:latin typeface="Raleway" pitchFamily="2" charset="0"/>
                        </a:rPr>
                        <a:t>Human or systems “factors” from the Suliburk categorization.</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386115"/>
                  </a:ext>
                </a:extLst>
              </a:tr>
              <a:tr h="577661">
                <a:tc>
                  <a:txBody>
                    <a:bodyPr/>
                    <a:lstStyle/>
                    <a:p>
                      <a:r>
                        <a:rPr lang="en-US" sz="1800" dirty="0">
                          <a:solidFill>
                            <a:schemeClr val="bg1">
                              <a:lumMod val="65000"/>
                            </a:schemeClr>
                          </a:solidFill>
                          <a:latin typeface="Aptos" panose="020B0004020202020204" pitchFamily="34" charset="0"/>
                        </a:rPr>
                        <a:t>Was this </a:t>
                      </a:r>
                      <a:r>
                        <a:rPr lang="en-US" sz="1800" b="1" dirty="0">
                          <a:solidFill>
                            <a:schemeClr val="bg1">
                              <a:lumMod val="65000"/>
                            </a:schemeClr>
                          </a:solidFill>
                          <a:latin typeface="Aptos" panose="020B0004020202020204" pitchFamily="34" charset="0"/>
                        </a:rPr>
                        <a:t>anticipated</a:t>
                      </a:r>
                      <a:r>
                        <a:rPr lang="en-US" sz="1800" dirty="0">
                          <a:solidFill>
                            <a:schemeClr val="bg1">
                              <a:lumMod val="65000"/>
                            </a:schemeClr>
                          </a:solidFill>
                          <a:latin typeface="Aptos" panose="020B0004020202020204" pitchFamily="34" charset="0"/>
                        </a:rPr>
                        <a:t>?</a:t>
                      </a:r>
                    </a:p>
                    <a:p>
                      <a:r>
                        <a:rPr lang="en-US" sz="1800" dirty="0">
                          <a:solidFill>
                            <a:schemeClr val="bg1">
                              <a:lumMod val="65000"/>
                            </a:schemeClr>
                          </a:solidFill>
                          <a:latin typeface="Aptos" panose="020B0004020202020204" pitchFamily="34" charset="0"/>
                        </a:rPr>
                        <a:t>What was done to avoid it?</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solidFill>
                            <a:schemeClr val="bg1">
                              <a:lumMod val="95000"/>
                            </a:schemeClr>
                          </a:solidFill>
                          <a:latin typeface="Raleway" pitchFamily="2" charset="0"/>
                        </a:rPr>
                        <a:t>No/Yes</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444286"/>
                  </a:ext>
                </a:extLst>
              </a:tr>
              <a:tr h="577661">
                <a:tc>
                  <a:txBody>
                    <a:bodyPr/>
                    <a:lstStyle/>
                    <a:p>
                      <a:r>
                        <a:rPr lang="en-US" sz="1800" dirty="0">
                          <a:solidFill>
                            <a:schemeClr val="bg1">
                              <a:lumMod val="65000"/>
                            </a:schemeClr>
                          </a:solidFill>
                          <a:latin typeface="Aptos" panose="020B0004020202020204" pitchFamily="34" charset="0"/>
                        </a:rPr>
                        <a:t>Was this </a:t>
                      </a:r>
                      <a:r>
                        <a:rPr lang="en-US" sz="1800" b="1" dirty="0">
                          <a:solidFill>
                            <a:schemeClr val="bg1">
                              <a:lumMod val="65000"/>
                            </a:schemeClr>
                          </a:solidFill>
                          <a:latin typeface="Aptos" panose="020B0004020202020204" pitchFamily="34" charset="0"/>
                        </a:rPr>
                        <a:t>avoidable</a:t>
                      </a:r>
                      <a:r>
                        <a:rPr lang="en-US" sz="1800" dirty="0">
                          <a:solidFill>
                            <a:schemeClr val="bg1">
                              <a:lumMod val="65000"/>
                            </a:schemeClr>
                          </a:solidFill>
                          <a:latin typeface="Aptos" panose="020B0004020202020204" pitchFamily="34" charset="0"/>
                        </a:rPr>
                        <a:t>?</a:t>
                      </a:r>
                    </a:p>
                    <a:p>
                      <a:endParaRPr lang="en-US" sz="1800" dirty="0">
                        <a:solidFill>
                          <a:schemeClr val="bg1">
                            <a:lumMod val="65000"/>
                          </a:schemeClr>
                        </a:solidFill>
                        <a:latin typeface="Aptos" panose="020B0004020202020204" pitchFamily="34" charset="0"/>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solidFill>
                            <a:schemeClr val="bg1">
                              <a:lumMod val="95000"/>
                            </a:schemeClr>
                          </a:solidFill>
                          <a:latin typeface="Raleway" pitchFamily="2" charset="0"/>
                        </a:rPr>
                        <a:t>No/Yes</a:t>
                      </a:r>
                    </a:p>
                    <a:p>
                      <a:r>
                        <a:rPr lang="en-US" sz="1800" dirty="0">
                          <a:solidFill>
                            <a:schemeClr val="bg1">
                              <a:lumMod val="95000"/>
                            </a:schemeClr>
                          </a:solidFill>
                          <a:latin typeface="Raleway" pitchFamily="2" charset="0"/>
                        </a:rPr>
                        <a:t>Yes – “If __ had been done, __ would not have occurred.”</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95381"/>
                  </a:ext>
                </a:extLst>
              </a:tr>
              <a:tr h="577661">
                <a:tc>
                  <a:txBody>
                    <a:bodyPr/>
                    <a:lstStyle/>
                    <a:p>
                      <a:r>
                        <a:rPr lang="en-US" sz="1800" dirty="0">
                          <a:solidFill>
                            <a:schemeClr val="bg1">
                              <a:lumMod val="65000"/>
                            </a:schemeClr>
                          </a:solidFill>
                          <a:latin typeface="Aptos" panose="020B0004020202020204" pitchFamily="34" charset="0"/>
                        </a:rPr>
                        <a:t>Onset—</a:t>
                      </a:r>
                      <a:r>
                        <a:rPr lang="en-US" sz="1800" b="0" dirty="0">
                          <a:solidFill>
                            <a:schemeClr val="bg1">
                              <a:lumMod val="65000"/>
                            </a:schemeClr>
                          </a:solidFill>
                          <a:latin typeface="Aptos" panose="020B0004020202020204" pitchFamily="34" charset="0"/>
                        </a:rPr>
                        <a:t>recognition </a:t>
                      </a:r>
                      <a:r>
                        <a:rPr lang="en-US" sz="1800" dirty="0">
                          <a:solidFill>
                            <a:schemeClr val="bg1">
                              <a:lumMod val="65000"/>
                            </a:schemeClr>
                          </a:solidFill>
                          <a:latin typeface="Aptos" panose="020B0004020202020204" pitchFamily="34" charset="0"/>
                        </a:rPr>
                        <a:t>interval:</a:t>
                      </a:r>
                    </a:p>
                    <a:p>
                      <a:r>
                        <a:rPr lang="en-US" sz="1800" b="1" dirty="0">
                          <a:solidFill>
                            <a:schemeClr val="bg1">
                              <a:lumMod val="65000"/>
                            </a:schemeClr>
                          </a:solidFill>
                          <a:latin typeface="Aptos" panose="020B0004020202020204" pitchFamily="34" charset="0"/>
                        </a:rPr>
                        <a:t>Recognition timely</a:t>
                      </a:r>
                      <a:r>
                        <a:rPr lang="en-US" sz="1800" dirty="0">
                          <a:solidFill>
                            <a:schemeClr val="bg1">
                              <a:lumMod val="65000"/>
                            </a:schemeClr>
                          </a:solidFill>
                          <a:latin typeface="Aptos" panose="020B0004020202020204" pitchFamily="34" charset="0"/>
                        </a:rPr>
                        <a:t>?</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solidFill>
                            <a:schemeClr val="bg1">
                              <a:lumMod val="95000"/>
                            </a:schemeClr>
                          </a:solidFill>
                          <a:latin typeface="Raleway" pitchFamily="2" charset="0"/>
                        </a:rPr>
                        <a:t>18 hours</a:t>
                      </a:r>
                    </a:p>
                    <a:p>
                      <a:r>
                        <a:rPr lang="en-US" sz="1800" dirty="0">
                          <a:solidFill>
                            <a:schemeClr val="bg1">
                              <a:lumMod val="95000"/>
                            </a:schemeClr>
                          </a:solidFill>
                          <a:latin typeface="Raleway" pitchFamily="2" charset="0"/>
                        </a:rPr>
                        <a:t>No – “If __ had been seen, ___ would have been recognized sooner.”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2167569"/>
                  </a:ext>
                </a:extLst>
              </a:tr>
              <a:tr h="577661">
                <a:tc>
                  <a:txBody>
                    <a:bodyPr/>
                    <a:lstStyle/>
                    <a:p>
                      <a:r>
                        <a:rPr lang="en-US" sz="1800" dirty="0">
                          <a:solidFill>
                            <a:schemeClr val="bg1">
                              <a:lumMod val="65000"/>
                            </a:schemeClr>
                          </a:solidFill>
                          <a:latin typeface="Aptos" panose="020B0004020202020204" pitchFamily="34" charset="0"/>
                        </a:rPr>
                        <a:t>Recognition—</a:t>
                      </a:r>
                      <a:r>
                        <a:rPr lang="en-US" sz="1800" b="0" dirty="0">
                          <a:solidFill>
                            <a:schemeClr val="bg1">
                              <a:lumMod val="65000"/>
                            </a:schemeClr>
                          </a:solidFill>
                          <a:latin typeface="Aptos" panose="020B0004020202020204" pitchFamily="34" charset="0"/>
                        </a:rPr>
                        <a:t>treatment </a:t>
                      </a:r>
                      <a:r>
                        <a:rPr lang="en-US" sz="1800" dirty="0">
                          <a:solidFill>
                            <a:schemeClr val="bg1">
                              <a:lumMod val="65000"/>
                            </a:schemeClr>
                          </a:solidFill>
                          <a:latin typeface="Aptos" panose="020B0004020202020204" pitchFamily="34" charset="0"/>
                        </a:rPr>
                        <a:t>interval:</a:t>
                      </a:r>
                    </a:p>
                    <a:p>
                      <a:r>
                        <a:rPr lang="en-US" sz="1800" b="1" dirty="0">
                          <a:solidFill>
                            <a:schemeClr val="bg1">
                              <a:lumMod val="65000"/>
                            </a:schemeClr>
                          </a:solidFill>
                          <a:latin typeface="Aptos" panose="020B0004020202020204" pitchFamily="34" charset="0"/>
                        </a:rPr>
                        <a:t>Treatment timely</a:t>
                      </a:r>
                      <a:r>
                        <a:rPr lang="en-US" sz="1800" dirty="0">
                          <a:solidFill>
                            <a:schemeClr val="bg1">
                              <a:lumMod val="65000"/>
                            </a:schemeClr>
                          </a:solidFill>
                          <a:latin typeface="Aptos" panose="020B0004020202020204" pitchFamily="34" charset="0"/>
                        </a:rPr>
                        <a:t>?</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solidFill>
                            <a:schemeClr val="bg1">
                              <a:lumMod val="95000"/>
                            </a:schemeClr>
                          </a:solidFill>
                          <a:latin typeface="Raleway" pitchFamily="2" charset="0"/>
                        </a:rPr>
                        <a:t>No/Yes</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518232"/>
                  </a:ext>
                </a:extLst>
              </a:tr>
            </a:tbl>
          </a:graphicData>
        </a:graphic>
      </p:graphicFrame>
    </p:spTree>
    <p:extLst>
      <p:ext uri="{BB962C8B-B14F-4D97-AF65-F5344CB8AC3E}">
        <p14:creationId xmlns:p14="http://schemas.microsoft.com/office/powerpoint/2010/main" val="3877220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D34A-DCBF-7E2C-FF07-0126ED889386}"/>
              </a:ext>
            </a:extLst>
          </p:cNvPr>
          <p:cNvSpPr>
            <a:spLocks noGrp="1"/>
          </p:cNvSpPr>
          <p:nvPr>
            <p:ph type="title"/>
          </p:nvPr>
        </p:nvSpPr>
        <p:spPr>
          <a:xfrm>
            <a:off x="185057" y="119856"/>
            <a:ext cx="10515600" cy="954202"/>
          </a:xfrm>
        </p:spPr>
        <p:txBody>
          <a:bodyPr>
            <a:normAutofit/>
          </a:bodyPr>
          <a:lstStyle/>
          <a:p>
            <a:r>
              <a:rPr lang="en-US" dirty="0">
                <a:solidFill>
                  <a:schemeClr val="bg1">
                    <a:lumMod val="65000"/>
                  </a:schemeClr>
                </a:solidFill>
                <a:latin typeface="Georgia" panose="02040502050405020303" pitchFamily="18" charset="0"/>
              </a:rPr>
              <a:t>3. Analysis |</a:t>
            </a:r>
            <a:r>
              <a:rPr lang="en-US" sz="4000" dirty="0">
                <a:solidFill>
                  <a:schemeClr val="bg1">
                    <a:lumMod val="65000"/>
                  </a:schemeClr>
                </a:solidFill>
                <a:latin typeface="Georgia" panose="02040502050405020303" pitchFamily="18" charset="0"/>
              </a:rPr>
              <a:t> </a:t>
            </a:r>
            <a:r>
              <a:rPr lang="en-US" dirty="0">
                <a:solidFill>
                  <a:schemeClr val="bg1">
                    <a:lumMod val="65000"/>
                  </a:schemeClr>
                </a:solidFill>
                <a:latin typeface="Georgia" panose="02040502050405020303" pitchFamily="18" charset="0"/>
              </a:rPr>
              <a:t>Relevant Literature</a:t>
            </a:r>
            <a:endParaRPr lang="en-US" sz="3600" dirty="0">
              <a:solidFill>
                <a:schemeClr val="bg1">
                  <a:lumMod val="65000"/>
                </a:schemeClr>
              </a:solidFill>
              <a:latin typeface="Georgia" panose="02040502050405020303" pitchFamily="18" charset="0"/>
            </a:endParaRPr>
          </a:p>
        </p:txBody>
      </p:sp>
      <p:sp>
        <p:nvSpPr>
          <p:cNvPr id="3" name="Content Placeholder 2">
            <a:extLst>
              <a:ext uri="{FF2B5EF4-FFF2-40B4-BE49-F238E27FC236}">
                <a16:creationId xmlns:a16="http://schemas.microsoft.com/office/drawing/2014/main" id="{A0095DAE-974E-4FE8-C5C9-7E74DD5FD4F2}"/>
              </a:ext>
            </a:extLst>
          </p:cNvPr>
          <p:cNvSpPr>
            <a:spLocks noGrp="1"/>
          </p:cNvSpPr>
          <p:nvPr>
            <p:ph idx="1"/>
          </p:nvPr>
        </p:nvSpPr>
        <p:spPr>
          <a:xfrm>
            <a:off x="719404" y="1794181"/>
            <a:ext cx="4974141" cy="2704094"/>
          </a:xfrm>
        </p:spPr>
        <p:txBody>
          <a:bodyPr>
            <a:normAutofit/>
          </a:bodyPr>
          <a:lstStyle/>
          <a:p>
            <a:r>
              <a:rPr lang="en-US" sz="2400" dirty="0">
                <a:solidFill>
                  <a:schemeClr val="bg1">
                    <a:lumMod val="95000"/>
                  </a:schemeClr>
                </a:solidFill>
                <a:latin typeface="Raleway" pitchFamily="2" charset="0"/>
                <a:cs typeface="Arial" panose="020B0604020202020204" pitchFamily="34" charset="0"/>
              </a:rPr>
              <a:t>phrase 1</a:t>
            </a:r>
          </a:p>
          <a:p>
            <a:r>
              <a:rPr lang="en-US" sz="2400" dirty="0">
                <a:solidFill>
                  <a:schemeClr val="bg1">
                    <a:lumMod val="95000"/>
                  </a:schemeClr>
                </a:solidFill>
                <a:latin typeface="Raleway" pitchFamily="2" charset="0"/>
                <a:cs typeface="Arial" panose="020B0604020202020204" pitchFamily="34" charset="0"/>
              </a:rPr>
              <a:t>phrase 2</a:t>
            </a:r>
          </a:p>
        </p:txBody>
      </p:sp>
      <p:sp>
        <p:nvSpPr>
          <p:cNvPr id="4" name="Rectangle 3">
            <a:extLst>
              <a:ext uri="{FF2B5EF4-FFF2-40B4-BE49-F238E27FC236}">
                <a16:creationId xmlns:a16="http://schemas.microsoft.com/office/drawing/2014/main" id="{BE37F112-E57C-431B-2CCE-AF3C891B0BE9}"/>
              </a:ext>
            </a:extLst>
          </p:cNvPr>
          <p:cNvSpPr/>
          <p:nvPr/>
        </p:nvSpPr>
        <p:spPr>
          <a:xfrm>
            <a:off x="6698974" y="1948070"/>
            <a:ext cx="4512365" cy="3490705"/>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25DB909-46D0-DF8B-07CD-598877F68AB9}"/>
              </a:ext>
            </a:extLst>
          </p:cNvPr>
          <p:cNvSpPr txBox="1"/>
          <p:nvPr/>
        </p:nvSpPr>
        <p:spPr>
          <a:xfrm>
            <a:off x="567793" y="6158898"/>
            <a:ext cx="10774017" cy="276999"/>
          </a:xfrm>
          <a:prstGeom prst="rect">
            <a:avLst/>
          </a:prstGeom>
          <a:noFill/>
        </p:spPr>
        <p:txBody>
          <a:bodyPr wrap="square" rtlCol="0">
            <a:spAutoFit/>
          </a:bodyPr>
          <a:lstStyle/>
          <a:p>
            <a:pPr algn="ctr"/>
            <a:r>
              <a:rPr lang="en-US" sz="1200" dirty="0">
                <a:solidFill>
                  <a:schemeClr val="bg1">
                    <a:lumMod val="75000"/>
                  </a:schemeClr>
                </a:solidFill>
                <a:latin typeface="Arial" panose="020B0604020202020204" pitchFamily="34" charset="0"/>
                <a:cs typeface="Arial" panose="020B0604020202020204" pitchFamily="34" charset="0"/>
              </a:rPr>
              <a:t>this is where you put the citation in Vancouver format.</a:t>
            </a:r>
          </a:p>
        </p:txBody>
      </p:sp>
      <p:sp>
        <p:nvSpPr>
          <p:cNvPr id="6" name="TextBox 5">
            <a:extLst>
              <a:ext uri="{FF2B5EF4-FFF2-40B4-BE49-F238E27FC236}">
                <a16:creationId xmlns:a16="http://schemas.microsoft.com/office/drawing/2014/main" id="{D8C9C1FE-00EF-4354-17A0-B6C51E283593}"/>
              </a:ext>
            </a:extLst>
          </p:cNvPr>
          <p:cNvSpPr txBox="1"/>
          <p:nvPr/>
        </p:nvSpPr>
        <p:spPr>
          <a:xfrm>
            <a:off x="7326401" y="2782669"/>
            <a:ext cx="3257510" cy="646331"/>
          </a:xfrm>
          <a:prstGeom prst="rect">
            <a:avLst/>
          </a:prstGeom>
          <a:noFill/>
        </p:spPr>
        <p:txBody>
          <a:bodyPr wrap="square" rtlCol="0">
            <a:spAutoFit/>
          </a:bodyPr>
          <a:lstStyle/>
          <a:p>
            <a:r>
              <a:rPr lang="en-US" dirty="0"/>
              <a:t>(relevant figure or image from chosen publication here)</a:t>
            </a:r>
          </a:p>
        </p:txBody>
      </p:sp>
    </p:spTree>
    <p:extLst>
      <p:ext uri="{BB962C8B-B14F-4D97-AF65-F5344CB8AC3E}">
        <p14:creationId xmlns:p14="http://schemas.microsoft.com/office/powerpoint/2010/main" val="2015397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pic>
        <p:nvPicPr>
          <p:cNvPr id="21" name="Picture 20" descr="Text&#10;&#10;AI-generated content may be incorrect.">
            <a:extLst>
              <a:ext uri="{FF2B5EF4-FFF2-40B4-BE49-F238E27FC236}">
                <a16:creationId xmlns:a16="http://schemas.microsoft.com/office/drawing/2014/main" id="{0A84832F-D70D-5FFF-E15E-68FE10A3B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0658" y="444241"/>
            <a:ext cx="2664241" cy="6147781"/>
          </a:xfrm>
          <a:prstGeom prst="rect">
            <a:avLst/>
          </a:prstGeom>
        </p:spPr>
      </p:pic>
      <p:sp>
        <p:nvSpPr>
          <p:cNvPr id="22" name="Title 1">
            <a:extLst>
              <a:ext uri="{FF2B5EF4-FFF2-40B4-BE49-F238E27FC236}">
                <a16:creationId xmlns:a16="http://schemas.microsoft.com/office/drawing/2014/main" id="{E80A8CE2-1FCA-224A-AECE-ED5906DE6710}"/>
              </a:ext>
            </a:extLst>
          </p:cNvPr>
          <p:cNvSpPr>
            <a:spLocks noGrp="1"/>
          </p:cNvSpPr>
          <p:nvPr>
            <p:ph type="title"/>
          </p:nvPr>
        </p:nvSpPr>
        <p:spPr>
          <a:xfrm>
            <a:off x="185057" y="119856"/>
            <a:ext cx="10515600" cy="954202"/>
          </a:xfrm>
        </p:spPr>
        <p:txBody>
          <a:bodyPr>
            <a:normAutofit/>
          </a:bodyPr>
          <a:lstStyle/>
          <a:p>
            <a:r>
              <a:rPr lang="en-US" sz="4000" dirty="0">
                <a:solidFill>
                  <a:schemeClr val="bg1">
                    <a:lumMod val="65000"/>
                  </a:schemeClr>
                </a:solidFill>
                <a:latin typeface="Georgia" panose="02040502050405020303" pitchFamily="18" charset="0"/>
              </a:rPr>
              <a:t>4. </a:t>
            </a:r>
            <a:r>
              <a:rPr lang="en-US" sz="4800" dirty="0">
                <a:solidFill>
                  <a:schemeClr val="bg1">
                    <a:lumMod val="65000"/>
                  </a:schemeClr>
                </a:solidFill>
                <a:latin typeface="Georgia" panose="02040502050405020303" pitchFamily="18" charset="0"/>
              </a:rPr>
              <a:t>Actionable Lesson(s)</a:t>
            </a:r>
            <a:endParaRPr lang="en-US" sz="4000" dirty="0">
              <a:solidFill>
                <a:schemeClr val="bg1">
                  <a:lumMod val="65000"/>
                </a:schemeClr>
              </a:solidFill>
              <a:latin typeface="Georgia" panose="02040502050405020303" pitchFamily="18" charset="0"/>
            </a:endParaRPr>
          </a:p>
        </p:txBody>
      </p:sp>
      <p:sp>
        <p:nvSpPr>
          <p:cNvPr id="23" name="Content Placeholder 2">
            <a:extLst>
              <a:ext uri="{FF2B5EF4-FFF2-40B4-BE49-F238E27FC236}">
                <a16:creationId xmlns:a16="http://schemas.microsoft.com/office/drawing/2014/main" id="{65E089EF-6627-AE1F-8AE4-AB46AF89F507}"/>
              </a:ext>
            </a:extLst>
          </p:cNvPr>
          <p:cNvSpPr>
            <a:spLocks noGrp="1"/>
          </p:cNvSpPr>
          <p:nvPr>
            <p:ph idx="1"/>
          </p:nvPr>
        </p:nvSpPr>
        <p:spPr>
          <a:xfrm>
            <a:off x="1031386" y="2628106"/>
            <a:ext cx="5831114" cy="2045494"/>
          </a:xfrm>
        </p:spPr>
        <p:txBody>
          <a:bodyPr>
            <a:normAutofit/>
          </a:bodyPr>
          <a:lstStyle/>
          <a:p>
            <a:pPr marL="0" indent="0">
              <a:buNone/>
            </a:pPr>
            <a:r>
              <a:rPr lang="en-US" sz="2400" dirty="0">
                <a:solidFill>
                  <a:srgbClr val="FF9933"/>
                </a:solidFill>
                <a:latin typeface="Raleway" pitchFamily="2" charset="0"/>
              </a:rPr>
              <a:t>Going forward: </a:t>
            </a:r>
            <a:r>
              <a:rPr lang="en-US" sz="2400" dirty="0">
                <a:solidFill>
                  <a:schemeClr val="bg1">
                    <a:lumMod val="95000"/>
                  </a:schemeClr>
                </a:solidFill>
                <a:latin typeface="Raleway" pitchFamily="2" charset="0"/>
              </a:rPr>
              <a:t>(</a:t>
            </a:r>
            <a:r>
              <a:rPr lang="en-US" sz="2400" i="1" dirty="0">
                <a:solidFill>
                  <a:schemeClr val="bg1">
                    <a:lumMod val="95000"/>
                  </a:schemeClr>
                </a:solidFill>
                <a:latin typeface="Raleway" pitchFamily="2" charset="0"/>
              </a:rPr>
              <a:t>action statement / proposal</a:t>
            </a:r>
            <a:r>
              <a:rPr lang="en-US" sz="2400" dirty="0">
                <a:solidFill>
                  <a:schemeClr val="bg1">
                    <a:lumMod val="95000"/>
                  </a:schemeClr>
                </a:solidFill>
                <a:latin typeface="Raleway" pitchFamily="2" charset="0"/>
              </a:rPr>
              <a:t>)</a:t>
            </a:r>
          </a:p>
        </p:txBody>
      </p:sp>
    </p:spTree>
    <p:extLst>
      <p:ext uri="{BB962C8B-B14F-4D97-AF65-F5344CB8AC3E}">
        <p14:creationId xmlns:p14="http://schemas.microsoft.com/office/powerpoint/2010/main" val="19264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537</TotalTime>
  <Words>2880</Words>
  <Application>Microsoft Office PowerPoint</Application>
  <PresentationFormat>Widescreen</PresentationFormat>
  <Paragraphs>205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Calibri Light</vt:lpstr>
      <vt:lpstr>Georgia</vt:lpstr>
      <vt:lpstr>Raleway</vt:lpstr>
      <vt:lpstr>Office Theme</vt:lpstr>
      <vt:lpstr>___(complication[s]) after ____(procedure)</vt:lpstr>
      <vt:lpstr>1. Situation | History</vt:lpstr>
      <vt:lpstr>1. Situation | Relevant Imaging</vt:lpstr>
      <vt:lpstr>2. Event Timeline</vt:lpstr>
      <vt:lpstr>PowerPoint Presentation</vt:lpstr>
      <vt:lpstr>3. Analysis | Relevant Literature</vt:lpstr>
      <vt:lpstr>4. Actionable Lesson(s)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Vascular Surgery M&amp;M</dc:title>
  <dc:creator>Choi, Justin</dc:creator>
  <cp:lastModifiedBy>Barshes, Neal (HOU)</cp:lastModifiedBy>
  <cp:revision>4</cp:revision>
  <dcterms:created xsi:type="dcterms:W3CDTF">2021-09-03T16:20:39Z</dcterms:created>
  <dcterms:modified xsi:type="dcterms:W3CDTF">2026-03-20T17:11:32Z</dcterms:modified>
</cp:coreProperties>
</file>